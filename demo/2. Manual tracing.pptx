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JetBrains Mono" panose="02000009000000000000" pitchFamily="49"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nhắc lại bài toán trong một câu. Cho một tập chuỗi, tìm chuỗi ngắn nhất chứa tất cả chúng như chuỗi con liên tiếp. Ví dụ ở cuối slide: AAA và AAB trùng nhau 2 ký tự nên gộp lại chỉ còn AAAB (4 ký tự) thay vì 6. Phần của mình là trace tay thuật toán tham lam trên hai ví dụ nhỏ.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bốn quy ước trước khi trace, vì kết quả phụ thuộc vào chúng. Quy ước 3 (xử lý hoà) và 4 (nối đuôi) là hai điểm làm greedy ra kết quả khác nhau ở ví dụ này. Quy ước 3 và 4 chính là cách scs.cpp xử lý. Lưu ý tên bài toán: Superstring (chuỗi con liên tiếp), không phải Substring.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Tư tưởng của hướng đường đi Hamilton: biến việc ghép chuỗi thành việc chọn thứ tự. Mỗi thứ tự là một hoán vị của n chuỗi, tức là một đường đi qua mọi đỉnh của đồ thị chồng lấp. Mỗi lần ghép a trước b tiết kiệm được overlap(a, b) ký tự, nên tổng độ dài giảm đúng bằng tổng trọng số các cạnh trên đường đi. Muốn ngắn nhất thì chọn đường đi có tổng trọng số lớn nhất. Cách chính xác là thử n! hoán vị, hoặc dùng quy hoạch động theo tập con (bitmask, kiểu Held-Karp) với 2 mũ n nhân n bình phương phép tính. Với n = 20, n! cỡ 2,4 nhân 10 mũ 18 còn bitmask cỡ 4 nhân 10 mũ 8. Bài toán là NP-khó nên cả hai đều không dùng được khi n lớn, đó là lý do cần greedy ở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này lấy từ tài liệu của Langmead. Điểm mấu chốt của slide này: có tới năm cạnh cùng trọng số 2, nên greedy phải có luật chọn khi hoà. Với luật lấy cặp đầu tiên khi quét i nhỏ hơn j, cạnh AAA sang AAB được chọn trước. Nhắc trước rằng đáp án tối ưu là 7 để người nghe so sánh với kết quả greedy ở các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overlap ở slide trước chính là ma trận kề của đồ thị này. Mô hình hoá: mỗi chuỗi là một đỉnh, cạnh a sang b có trọng số overlap(a, b), và superstring ngắn nhất ứng với đường đi Hamilton có tổng trọng số lớn nhất (độ dài bằng tổng độ dài chuỗi trừ tổng trọng số). Bài toán cần đường đi, không cần chu trình vì không phải quay về đỉnh đầu. Có 11 cạnh có trọng số lớn hơn 0, trong đó 5 cạnh trọng số 2 được vẽ ra và 6 cạnh trọng số 1 được ẩn. Quan sát: các cạnh trọng số 2 tạo thành đường AAA, AAB, ABB rồi rẽ nhánh sang BBB hoặc BBA. Đường đi qua cả năm đỉnh với tổng trọng số lớn nhất là AAA, AAB, ABB, BBB, BBA, tổng 8, ứng với superstring AAABBBA dài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Tư tưởng của greedy: thay vì tìm đường đi Hamilton tốt nhất trên toàn đồ thị, mỗi bước chỉ chọn cặp chuỗi có overlap lớn nhất hiện có và gộp lại, rồi tính lại với danh sách mới. Chỉ cần n trừ 1 vòng, mỗi vòng xét các cặp chuỗi, nên rẻ hơn nhiều so với n giai thừa. Điểm yếu: lựa chọn ở mỗi bước chỉ dựa trên lợi ích trước mắt, nên có thể làm mất cơ hội ghép ở các bước sau. Ví dụ AAA, BBB sắp trace sẽ cho thấy đúng chuyện này: một lựa chọn khi hoà làm BBB bị bỏ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Vòng 1: quét mọi cặp i nhỏ hơn j, cặp đầu tiên có overlap 2 là AAA và AAB nên chọn luôn, vì chỉ cập nhật khi overlap lớn hẳn hơn. Gộp được AAAB. Cách xoá chuỗi: đưa chuỗi cuối (BBA) vào vị trí của AAB rồi giảm kích thước danh sách. Thao tác này làm đổi thứ tự danh sách, và thứ tự lại quyết định ai thắng khi hoà ở vòng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Vòng 2: danh sách giờ là AAAB, BBA, ABB, BBB (BBA đã lên vị trí thứ hai ở vòng trước). Quét i nhỏ hơn j: cặp (AAAB, BBA) chỉ có overlap 1, cặp (AAAB, ABB) có overlap 2 nên được chọn và các cặp hoà phía sau không còn được xét. AAAB nối ABB cho AAABB. Lưu ý bảng overlap được tính lại sau mỗi vòng với danh sách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chỗ rẽ nhánh quan trọng nhất. Ba cặp cùng overlap 2 và cả ba đều hợp lệ về mặt thuật toán. Luật lấy cặp đầu tiên chọn AAABB với BBA. Hậu quả: BBB bị bỏ lại, không còn chuỗi nào chồng lấp với AAABBA ở vòng sau. Nếu chọn AAABB với BBB thì BBA vẫn nối tiếp được. Greedy không nhìn trước được hậu quả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Vòng cuối: AAABBA và BBB không còn overlap nào, nên theo quy ước 4 thì nối đuôi, kết quả AAABBABBB dài 9. Tổng độ dài ban đầu là 15, tiết kiệm được 6 nên còn 9. Tối ưu là 7, tức greedy kém tối ưu 2 ký tự. Chuyển sang slide so sánh để chỉ ra nguyên nhân nằm ở lựa chọn khi hoà ở vòng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Cùng một trace nhưng nhìn bằng đồ thị. Mỗi vòng, greedy chọn cạnh nặng nhất (nét cam), gộp hai đỉnh thành một đỉnh mới (nền xanh), rồi tính lại cạnh. Số cạnh hoà giảm dần: 5, 4, 3 rồi 0. Chỉ vẽ cạnh trọng số 2 cho gọn. Ở vòng 3, BBB đang nối với hai đỉnh khác nhưng greedy chọn cạnh AAABB sang BBA, sau đó BBB bị cô lập và phải nối đuôi.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chốt của phần trace. Cả hai nhánh đều là greedy hợp lệ: mỗi vòng đều chọn cặp có overlap lớn nhất. Khác biệt duy nhất là chọn cặp nào trong ba cặp hoà ở vòng 3. Một nhánh ra 9, nhánh kia ra 7 và 7 được brute-force xác nhận là tối ưu. Từ đây có thể nói thuật toán này là heuristic: không đảm bảo tối ưu. Nếu có thời gian có thể nhắc rằng SCS là bài toán NP-khó nên cần chấp nhận heuristic khi n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Cùng đồ thị, hai đường đi khác nhau. Greedy chọn ba cạnh trọng số 2 là AAA sang AAB, AAB sang ABB, ABB sang BBA nên BBB bị bỏ lại và phải nối đuôi: tổng trọng số 6, độ dài 9. Đường đi tối ưu đi AAA, AAB, ABB, BBB, BBA, dùng bốn cạnh trọng số 2 nên tổng 8, độ dài 7. Tìm đường đi Hamilton tốt nhất là bài toán NP-khó, nên với nhiều chuỗi người ta dùng greedy làm heuristic, đổi lấy tốc độ và chấp nhận có khi không tối ưu.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cầu nối giữa phần trace của mình và các phần của bạn khác trong nhóm. Con số 10, 6, 3, 1 đếm ngay từ trace: n = 5, 4, 3, 2 chuỗi nên số cặp mỗi vòng là 10, 6, 3, 1, tổng 20 (bằng tổ hợp chập 3 của 6). Độ phức tạp chính xác phụ thuộc cài đặt overlap. Với LeetCode 943 nên kiểm tra lại ràng buộc đề bài (số chuỗi nhỏ) trước khi nói trong buổi thuyết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62"/>
            <a:ext cx="10566400" cy="379730"/>
          </a:xfrm>
          <a:prstGeom prst="rect">
            <a:avLst/>
          </a:prstGeom>
          <a:noFill/>
          <a:ln/>
        </p:spPr>
        <p:txBody>
          <a:bodyPr wrap="square" lIns="0" tIns="0" rIns="0" bIns="0" rtlCol="0" anchor="t"/>
          <a:lstStyle>
            <a:lvl1pPr algn="l" indent="0" marL="0">
              <a:lnSpc>
                <a:spcPct val="115000"/>
              </a:lnSpc>
              <a:buNone/>
              <a:defRPr lang="en-US" sz="2600" dirty="0">
                <a:solidFill>
                  <a:srgbClr val="1B2430"/>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761492"/>
            <a:ext cx="10566400" cy="4283708"/>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62"/>
            <a:ext cx="10566400" cy="379730"/>
          </a:xfrm>
          <a:prstGeom prst="rect">
            <a:avLst/>
          </a:prstGeom>
          <a:noFill/>
          <a:ln/>
        </p:spPr>
        <p:txBody>
          <a:bodyPr wrap="square" lIns="0" tIns="0" rIns="0" bIns="0" rtlCol="0" anchor="t"/>
          <a:lstStyle>
            <a:lvl1pPr algn="l" indent="0" marL="0">
              <a:lnSpc>
                <a:spcPct val="115000"/>
              </a:lnSpc>
              <a:buNone/>
              <a:defRPr lang="en-US" sz="2600" dirty="0">
                <a:solidFill>
                  <a:srgbClr val="1B2430"/>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761492"/>
            <a:ext cx="10566400" cy="4283708"/>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2.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2.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3093720"/>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3F1EA"/>
                </a:solidFill>
                <a:latin typeface="IBM Plex Sans" pitchFamily="34" charset="0"/>
                <a:ea typeface="IBM Plex Sans" pitchFamily="34" charset="-122"/>
                <a:cs typeface="IBM Plex Sans" pitchFamily="34" charset="-120"/>
              </a:rPr>
              <a:t>Shortest Common Superstring</a:t>
            </a:r>
            <a:endParaRPr lang="en-US" sz="4800" dirty="0"/>
          </a:p>
        </p:txBody>
      </p:sp>
      <p:sp>
        <p:nvSpPr>
          <p:cNvPr id="3" name="Text 1"/>
          <p:cNvSpPr/>
          <p:nvPr/>
        </p:nvSpPr>
        <p:spPr>
          <a:xfrm>
            <a:off x="812800" y="4265613"/>
            <a:ext cx="10883392"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C9D3E6"/>
                </a:solidFill>
                <a:latin typeface="IBM Plex Sans" pitchFamily="34" charset="0"/>
                <a:ea typeface="IBM Plex Sans" pitchFamily="34" charset="-122"/>
                <a:cs typeface="IBM Plex Sans" pitchFamily="34" charset="-120"/>
              </a:rPr>
              <a:t>Trace tay thuật toán tham lam theo độ chồng lấp</a:t>
            </a:r>
            <a:endParaRPr lang="en-US" sz="2200" dirty="0"/>
          </a:p>
        </p:txBody>
      </p:sp>
      <p:sp>
        <p:nvSpPr>
          <p:cNvPr id="4" name="Text 2"/>
          <p:cNvSpPr/>
          <p:nvPr/>
        </p:nvSpPr>
        <p:spPr>
          <a:xfrm>
            <a:off x="819150" y="5283835"/>
            <a:ext cx="866140" cy="551180"/>
          </a:xfrm>
          <a:prstGeom prst="roundRect">
            <a:avLst>
              <a:gd name="adj" fmla="val 12673"/>
            </a:avLst>
          </a:prstGeom>
          <a:solidFill>
            <a:srgbClr val="24365E"/>
          </a:solidFill>
          <a:ln w="12700">
            <a:solidFill>
              <a:srgbClr val="4A5F8F"/>
            </a:solidFill>
            <a:prstDash val="solid"/>
          </a:ln>
        </p:spPr>
        <p:txBody>
          <a:bodyPr wrap="none" lIns="0" tIns="0" rIns="0" bIns="0" rtlCol="0" anchor="ctr">
            <a:normAutofit/>
          </a:bodyPr>
          <a:lstStyle/>
          <a:p>
            <a:pPr algn="ctr" indent="0" marL="0">
              <a:lnSpc>
                <a:spcPts val="3080"/>
              </a:lnSpc>
              <a:buNone/>
            </a:pPr>
            <a:r>
              <a:rPr lang="en-US" sz="2200" b="1" dirty="0">
                <a:solidFill>
                  <a:srgbClr val="F3F1EA"/>
                </a:solidFill>
                <a:latin typeface="JetBrains Mono" pitchFamily="49" charset="0"/>
                <a:ea typeface="JetBrains Mono" pitchFamily="49" charset="-122"/>
                <a:cs typeface="JetBrains Mono" pitchFamily="49" charset="-120"/>
              </a:rPr>
              <a:t>AAA</a:t>
            </a:r>
            <a:endParaRPr lang="en-US" sz="2200" dirty="0"/>
          </a:p>
        </p:txBody>
      </p:sp>
      <p:sp>
        <p:nvSpPr>
          <p:cNvPr id="5" name="Text 3"/>
          <p:cNvSpPr/>
          <p:nvPr/>
        </p:nvSpPr>
        <p:spPr>
          <a:xfrm>
            <a:off x="1844040" y="5363845"/>
            <a:ext cx="21844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D3E6"/>
                </a:solidFill>
                <a:latin typeface="IBM Plex Sans" pitchFamily="34" charset="0"/>
                <a:ea typeface="IBM Plex Sans" pitchFamily="34" charset="-122"/>
                <a:cs typeface="IBM Plex Sans" pitchFamily="34" charset="-120"/>
              </a:rPr>
              <a:t>+</a:t>
            </a:r>
            <a:endParaRPr lang="en-US" sz="2200" dirty="0"/>
          </a:p>
        </p:txBody>
      </p:sp>
      <p:sp>
        <p:nvSpPr>
          <p:cNvPr id="6" name="Text 4"/>
          <p:cNvSpPr/>
          <p:nvPr/>
        </p:nvSpPr>
        <p:spPr>
          <a:xfrm>
            <a:off x="2170430" y="5283835"/>
            <a:ext cx="866140" cy="551180"/>
          </a:xfrm>
          <a:prstGeom prst="roundRect">
            <a:avLst>
              <a:gd name="adj" fmla="val 12673"/>
            </a:avLst>
          </a:prstGeom>
          <a:solidFill>
            <a:srgbClr val="24365E"/>
          </a:solidFill>
          <a:ln w="12700">
            <a:solidFill>
              <a:srgbClr val="4A5F8F"/>
            </a:solidFill>
            <a:prstDash val="solid"/>
          </a:ln>
        </p:spPr>
        <p:txBody>
          <a:bodyPr wrap="none" lIns="0" tIns="0" rIns="0" bIns="0" rtlCol="0" anchor="ctr">
            <a:normAutofit/>
          </a:bodyPr>
          <a:lstStyle/>
          <a:p>
            <a:pPr algn="ctr" indent="0" marL="0">
              <a:lnSpc>
                <a:spcPts val="3080"/>
              </a:lnSpc>
              <a:buNone/>
            </a:pPr>
            <a:r>
              <a:rPr lang="en-US" sz="2200" b="1" dirty="0">
                <a:solidFill>
                  <a:srgbClr val="F3F1EA"/>
                </a:solidFill>
                <a:latin typeface="JetBrains Mono" pitchFamily="49" charset="0"/>
                <a:ea typeface="JetBrains Mono" pitchFamily="49" charset="-122"/>
                <a:cs typeface="JetBrains Mono" pitchFamily="49" charset="-120"/>
              </a:rPr>
              <a:t>AAB</a:t>
            </a:r>
            <a:endParaRPr lang="en-US" sz="2200" dirty="0"/>
          </a:p>
        </p:txBody>
      </p:sp>
      <p:sp>
        <p:nvSpPr>
          <p:cNvPr id="7" name="Text 5"/>
          <p:cNvSpPr/>
          <p:nvPr/>
        </p:nvSpPr>
        <p:spPr>
          <a:xfrm>
            <a:off x="3195320" y="5363845"/>
            <a:ext cx="33528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D3E6"/>
                </a:solidFill>
                <a:latin typeface="IBM Plex Sans" pitchFamily="34" charset="0"/>
                <a:ea typeface="IBM Plex Sans" pitchFamily="34" charset="-122"/>
                <a:cs typeface="IBM Plex Sans" pitchFamily="34" charset="-120"/>
              </a:rPr>
              <a:t>→</a:t>
            </a:r>
            <a:endParaRPr lang="en-US" sz="2200" dirty="0"/>
          </a:p>
        </p:txBody>
      </p:sp>
      <p:sp>
        <p:nvSpPr>
          <p:cNvPr id="8" name="Text 6"/>
          <p:cNvSpPr/>
          <p:nvPr/>
        </p:nvSpPr>
        <p:spPr>
          <a:xfrm>
            <a:off x="3627120" y="5287645"/>
            <a:ext cx="1026160" cy="543560"/>
          </a:xfrm>
          <a:prstGeom prst="roundRect">
            <a:avLst>
              <a:gd name="adj" fmla="val 14019"/>
            </a:avLst>
          </a:prstGeom>
          <a:solidFill>
            <a:srgbClr val="F2A65A"/>
          </a:solidFill>
          <a:ln/>
        </p:spPr>
        <p:txBody>
          <a:bodyPr wrap="none" lIns="0" tIns="0" rIns="0" bIns="0" rtlCol="0" anchor="ctr">
            <a:normAutofit/>
          </a:bodyPr>
          <a:lstStyle/>
          <a:p>
            <a:pPr algn="ctr" indent="0" marL="0">
              <a:lnSpc>
                <a:spcPts val="3080"/>
              </a:lnSpc>
              <a:buNone/>
            </a:pPr>
            <a:r>
              <a:rPr lang="en-US" sz="2200" b="1" dirty="0">
                <a:solidFill>
                  <a:srgbClr val="14213D"/>
                </a:solidFill>
                <a:latin typeface="JetBrains Mono" pitchFamily="49" charset="0"/>
                <a:ea typeface="JetBrains Mono" pitchFamily="49" charset="-122"/>
                <a:cs typeface="JetBrains Mono" pitchFamily="49" charset="-120"/>
              </a:rPr>
              <a:t>AAAB</a:t>
            </a:r>
            <a:endParaRPr lang="en-US" sz="2200" dirty="0"/>
          </a:p>
        </p:txBody>
      </p:sp>
      <p:sp>
        <p:nvSpPr>
          <p:cNvPr id="9" name="Text 7"/>
          <p:cNvSpPr/>
          <p:nvPr/>
        </p:nvSpPr>
        <p:spPr>
          <a:xfrm>
            <a:off x="4907280" y="5434965"/>
            <a:ext cx="316058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6"/>
                </a:solidFill>
                <a:latin typeface="IBM Plex Sans" pitchFamily="34" charset="0"/>
                <a:ea typeface="IBM Plex Sans" pitchFamily="34" charset="-122"/>
                <a:cs typeface="IBM Plex Sans" pitchFamily="34" charset="-120"/>
              </a:rPr>
              <a:t>trùng 2 ký tự, chỉ cần viết một lần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MỞ ĐẦU</a:t>
            </a:r>
            <a:endParaRPr lang="en-US" sz="1200" dirty="0"/>
          </a:p>
        </p:txBody>
      </p:sp>
      <p:sp>
        <p:nvSpPr>
          <p:cNvPr id="3" name="Text 1"/>
          <p:cNvSpPr/>
          <p:nvPr>
            <p:ph type="title"/>
          </p:nvPr>
        </p:nvSpPr>
        <p:spPr>
          <a:xfrm>
            <a:off x="812800" y="1076960"/>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430"/>
                </a:solidFill>
                <a:latin typeface="IBM Plex Sans" pitchFamily="34" charset="0"/>
                <a:ea typeface="IBM Plex Sans" pitchFamily="34" charset="-122"/>
                <a:cs typeface="IBM Plex Sans" pitchFamily="34" charset="-120"/>
              </a:rPr>
              <a:t>Bài toán và bốn quy ước</a:t>
            </a:r>
            <a:endParaRPr lang="en-US" sz="2600" dirty="0"/>
          </a:p>
        </p:txBody>
      </p:sp>
      <p:sp>
        <p:nvSpPr>
          <p:cNvPr id="4" name="Text 2"/>
          <p:cNvSpPr/>
          <p:nvPr/>
        </p:nvSpPr>
        <p:spPr>
          <a:xfrm>
            <a:off x="812800" y="146050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IBM Plex Sans" pitchFamily="34" charset="0"/>
                <a:ea typeface="IBM Plex Sans" pitchFamily="34" charset="-122"/>
                <a:cs typeface="IBM Plex Sans" pitchFamily="34" charset="-120"/>
              </a:rPr>
              <a:t>Đầu vào: tập n chuỗi. </a:t>
            </a:r>
            <a:endParaRPr lang="en-US" sz="1600" dirty="0"/>
          </a:p>
          <a:p>
            <a:pPr algn="l" indent="0" marL="0">
              <a:lnSpc>
                <a:spcPts val="2240"/>
              </a:lnSpc>
              <a:buNone/>
            </a:pPr>
            <a:r>
              <a:rPr lang="en-US" sz="1600" dirty="0">
                <a:solidFill>
                  <a:srgbClr val="1B2430"/>
                </a:solidFill>
                <a:latin typeface="IBM Plex Sans" pitchFamily="34" charset="0"/>
                <a:ea typeface="IBM Plex Sans" pitchFamily="34" charset="-122"/>
                <a:cs typeface="IBM Plex Sans" pitchFamily="34" charset="-120"/>
              </a:rPr>
              <a:t>Đầu ra: chuỗi cha ngắn nhất chứa mọi chuỗi đầu vào như một chuỗi con liên tiếp.</a:t>
            </a:r>
            <a:endParaRPr lang="en-US" sz="1600" dirty="0"/>
          </a:p>
        </p:txBody>
      </p:sp>
      <p:sp>
        <p:nvSpPr>
          <p:cNvPr id="5" name="Shape 3"/>
          <p:cNvSpPr/>
          <p:nvPr/>
        </p:nvSpPr>
        <p:spPr>
          <a:xfrm>
            <a:off x="819150" y="2152650"/>
            <a:ext cx="5194300" cy="1381125"/>
          </a:xfrm>
          <a:prstGeom prst="roundRect">
            <a:avLst>
              <a:gd name="adj" fmla="val 6897"/>
            </a:avLst>
          </a:prstGeom>
          <a:solidFill>
            <a:srgbClr val="FCFBF7"/>
          </a:solidFill>
          <a:ln w="12700">
            <a:solidFill>
              <a:srgbClr val="DDD9CC"/>
            </a:solidFill>
            <a:prstDash val="solid"/>
          </a:ln>
        </p:spPr>
      </p:sp>
      <p:sp>
        <p:nvSpPr>
          <p:cNvPr id="6" name="Text 4"/>
          <p:cNvSpPr/>
          <p:nvPr/>
        </p:nvSpPr>
        <p:spPr>
          <a:xfrm>
            <a:off x="1026160" y="2359660"/>
            <a:ext cx="4923688"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5FBF"/>
                </a:solidFill>
                <a:latin typeface="IBM Plex Sans" pitchFamily="34" charset="0"/>
                <a:ea typeface="IBM Plex Sans" pitchFamily="34" charset="-122"/>
                <a:cs typeface="IBM Plex Sans" pitchFamily="34" charset="-120"/>
              </a:rPr>
              <a:t>1</a:t>
            </a:r>
            <a:endParaRPr lang="en-US" sz="2200" dirty="0"/>
          </a:p>
        </p:txBody>
      </p:sp>
      <p:sp>
        <p:nvSpPr>
          <p:cNvPr id="7" name="Text 5"/>
          <p:cNvSpPr/>
          <p:nvPr/>
        </p:nvSpPr>
        <p:spPr>
          <a:xfrm>
            <a:off x="1026160" y="2827020"/>
            <a:ext cx="492368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Loại trước mọi chuỗi đã nằm trọn trong chuỗi khác.</a:t>
            </a:r>
            <a:endParaRPr lang="en-US" sz="1400" dirty="0"/>
          </a:p>
        </p:txBody>
      </p:sp>
      <p:sp>
        <p:nvSpPr>
          <p:cNvPr id="8" name="Shape 6"/>
          <p:cNvSpPr/>
          <p:nvPr/>
        </p:nvSpPr>
        <p:spPr>
          <a:xfrm>
            <a:off x="6178550" y="2152650"/>
            <a:ext cx="5194300" cy="1381125"/>
          </a:xfrm>
          <a:prstGeom prst="roundRect">
            <a:avLst>
              <a:gd name="adj" fmla="val 6897"/>
            </a:avLst>
          </a:prstGeom>
          <a:solidFill>
            <a:srgbClr val="FCFBF7"/>
          </a:solidFill>
          <a:ln w="12700">
            <a:solidFill>
              <a:srgbClr val="DDD9CC"/>
            </a:solidFill>
            <a:prstDash val="solid"/>
          </a:ln>
        </p:spPr>
      </p:sp>
      <p:sp>
        <p:nvSpPr>
          <p:cNvPr id="9" name="Text 7"/>
          <p:cNvSpPr/>
          <p:nvPr/>
        </p:nvSpPr>
        <p:spPr>
          <a:xfrm>
            <a:off x="6385560" y="2359660"/>
            <a:ext cx="4923688"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5FBF"/>
                </a:solidFill>
                <a:latin typeface="IBM Plex Sans" pitchFamily="34" charset="0"/>
                <a:ea typeface="IBM Plex Sans" pitchFamily="34" charset="-122"/>
                <a:cs typeface="IBM Plex Sans" pitchFamily="34" charset="-120"/>
              </a:rPr>
              <a:t>2</a:t>
            </a:r>
            <a:endParaRPr lang="en-US" sz="2200" dirty="0"/>
          </a:p>
        </p:txBody>
      </p:sp>
      <p:sp>
        <p:nvSpPr>
          <p:cNvPr id="10" name="Text 8"/>
          <p:cNvSpPr/>
          <p:nvPr/>
        </p:nvSpPr>
        <p:spPr>
          <a:xfrm>
            <a:off x="6385560" y="2827020"/>
            <a:ext cx="492368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overlap(a, b) là hậu tố (suffix) dài nhất của a trùng với tiền tố (prefix) của b, tối thiểu 1 ký tự.</a:t>
            </a:r>
            <a:endParaRPr lang="en-US" sz="1400" dirty="0"/>
          </a:p>
        </p:txBody>
      </p:sp>
      <p:sp>
        <p:nvSpPr>
          <p:cNvPr id="11" name="Shape 9"/>
          <p:cNvSpPr/>
          <p:nvPr/>
        </p:nvSpPr>
        <p:spPr>
          <a:xfrm>
            <a:off x="819150" y="3698875"/>
            <a:ext cx="5194300" cy="1381125"/>
          </a:xfrm>
          <a:prstGeom prst="roundRect">
            <a:avLst>
              <a:gd name="adj" fmla="val 6897"/>
            </a:avLst>
          </a:prstGeom>
          <a:solidFill>
            <a:srgbClr val="FCFBF7"/>
          </a:solidFill>
          <a:ln w="12700">
            <a:solidFill>
              <a:srgbClr val="DDD9CC"/>
            </a:solidFill>
            <a:prstDash val="solid"/>
          </a:ln>
        </p:spPr>
      </p:sp>
      <p:sp>
        <p:nvSpPr>
          <p:cNvPr id="12" name="Text 10"/>
          <p:cNvSpPr/>
          <p:nvPr/>
        </p:nvSpPr>
        <p:spPr>
          <a:xfrm>
            <a:off x="1026160" y="3905885"/>
            <a:ext cx="4923688"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460F"/>
                </a:solidFill>
                <a:latin typeface="IBM Plex Sans" pitchFamily="34" charset="0"/>
                <a:ea typeface="IBM Plex Sans" pitchFamily="34" charset="-122"/>
                <a:cs typeface="IBM Plex Sans" pitchFamily="34" charset="-120"/>
              </a:rPr>
              <a:t>3</a:t>
            </a:r>
            <a:endParaRPr lang="en-US" sz="2200" dirty="0"/>
          </a:p>
        </p:txBody>
      </p:sp>
      <p:sp>
        <p:nvSpPr>
          <p:cNvPr id="13" name="Text 11"/>
          <p:cNvSpPr/>
          <p:nvPr/>
        </p:nvSpPr>
        <p:spPr>
          <a:xfrm>
            <a:off x="1026160" y="4373245"/>
            <a:ext cx="492368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Nhiều cặp cùng overlap lớn nhất (hoà): lấy cặp đầu tiên khi quét i &lt; j.</a:t>
            </a:r>
            <a:endParaRPr lang="en-US" sz="1400" dirty="0"/>
          </a:p>
        </p:txBody>
      </p:sp>
      <p:sp>
        <p:nvSpPr>
          <p:cNvPr id="14" name="Shape 12"/>
          <p:cNvSpPr/>
          <p:nvPr/>
        </p:nvSpPr>
        <p:spPr>
          <a:xfrm>
            <a:off x="6178550" y="3698875"/>
            <a:ext cx="5194300" cy="1381125"/>
          </a:xfrm>
          <a:prstGeom prst="roundRect">
            <a:avLst>
              <a:gd name="adj" fmla="val 6897"/>
            </a:avLst>
          </a:prstGeom>
          <a:solidFill>
            <a:srgbClr val="FCFBF7"/>
          </a:solidFill>
          <a:ln w="12700">
            <a:solidFill>
              <a:srgbClr val="DDD9CC"/>
            </a:solidFill>
            <a:prstDash val="solid"/>
          </a:ln>
        </p:spPr>
      </p:sp>
      <p:sp>
        <p:nvSpPr>
          <p:cNvPr id="15" name="Text 13"/>
          <p:cNvSpPr/>
          <p:nvPr/>
        </p:nvSpPr>
        <p:spPr>
          <a:xfrm>
            <a:off x="6385560" y="3905885"/>
            <a:ext cx="4923688"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460F"/>
                </a:solidFill>
                <a:latin typeface="IBM Plex Sans" pitchFamily="34" charset="0"/>
                <a:ea typeface="IBM Plex Sans" pitchFamily="34" charset="-122"/>
                <a:cs typeface="IBM Plex Sans" pitchFamily="34" charset="-120"/>
              </a:rPr>
              <a:t>4</a:t>
            </a:r>
            <a:endParaRPr lang="en-US" sz="2200" dirty="0"/>
          </a:p>
        </p:txBody>
      </p:sp>
      <p:sp>
        <p:nvSpPr>
          <p:cNvPr id="16" name="Text 14"/>
          <p:cNvSpPr/>
          <p:nvPr/>
        </p:nvSpPr>
        <p:spPr>
          <a:xfrm>
            <a:off x="6385560" y="4373245"/>
            <a:ext cx="492368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Không còn cặp nào chồng lấp: nối đuôi chuỗi cuối vào chuỗi đầu.</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TƯ TƯỞNG · ĐƯỜNG ĐI HAMILTON</a:t>
            </a:r>
            <a:endParaRPr lang="en-US" sz="1200" dirty="0"/>
          </a:p>
        </p:txBody>
      </p:sp>
      <p:sp>
        <p:nvSpPr>
          <p:cNvPr id="3" name="Text 1"/>
          <p:cNvSpPr/>
          <p:nvPr>
            <p:ph type="title"/>
          </p:nvPr>
        </p:nvSpPr>
        <p:spPr>
          <a:xfrm>
            <a:off x="812800" y="1076961"/>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430"/>
                </a:solidFill>
                <a:latin typeface="IBM Plex Sans" pitchFamily="34" charset="0"/>
                <a:ea typeface="IBM Plex Sans" pitchFamily="34" charset="-122"/>
                <a:cs typeface="IBM Plex Sans" pitchFamily="34" charset="-120"/>
              </a:rPr>
              <a:t>Tìm thứ tự ghép tốt nhất</a:t>
            </a:r>
            <a:endParaRPr lang="en-US" sz="2600" dirty="0"/>
          </a:p>
        </p:txBody>
      </p:sp>
      <p:sp>
        <p:nvSpPr>
          <p:cNvPr id="4" name="Shape 2"/>
          <p:cNvSpPr/>
          <p:nvPr/>
        </p:nvSpPr>
        <p:spPr>
          <a:xfrm>
            <a:off x="819150" y="1666241"/>
            <a:ext cx="5905500" cy="861060"/>
          </a:xfrm>
          <a:prstGeom prst="roundRect">
            <a:avLst>
              <a:gd name="adj" fmla="val 11062"/>
            </a:avLst>
          </a:prstGeom>
          <a:solidFill>
            <a:srgbClr val="FCFBF7"/>
          </a:solidFill>
          <a:ln w="12700">
            <a:solidFill>
              <a:srgbClr val="DDD9CC"/>
            </a:solidFill>
            <a:prstDash val="solid"/>
          </a:ln>
        </p:spPr>
      </p:sp>
      <p:sp>
        <p:nvSpPr>
          <p:cNvPr id="5" name="Text 3"/>
          <p:cNvSpPr/>
          <p:nvPr/>
        </p:nvSpPr>
        <p:spPr>
          <a:xfrm>
            <a:off x="1026160" y="1901191"/>
            <a:ext cx="3556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5FBF"/>
                </a:solidFill>
                <a:latin typeface="IBM Plex Sans" pitchFamily="34" charset="0"/>
                <a:ea typeface="IBM Plex Sans" pitchFamily="34" charset="-122"/>
                <a:cs typeface="IBM Plex Sans" pitchFamily="34" charset="-120"/>
              </a:rPr>
              <a:t>1</a:t>
            </a:r>
            <a:endParaRPr lang="en-US" sz="2200" dirty="0"/>
          </a:p>
        </p:txBody>
      </p:sp>
      <p:sp>
        <p:nvSpPr>
          <p:cNvPr id="6" name="Text 4"/>
          <p:cNvSpPr/>
          <p:nvPr/>
        </p:nvSpPr>
        <p:spPr>
          <a:xfrm>
            <a:off x="1483360" y="1847850"/>
            <a:ext cx="51853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Mỗi thứ tự ghép n chuỗi là một đường đi qua mọi đỉnh đúng một lần.</a:t>
            </a:r>
            <a:endParaRPr lang="en-US" sz="1400" dirty="0"/>
          </a:p>
        </p:txBody>
      </p:sp>
      <p:sp>
        <p:nvSpPr>
          <p:cNvPr id="7" name="Shape 5"/>
          <p:cNvSpPr/>
          <p:nvPr/>
        </p:nvSpPr>
        <p:spPr>
          <a:xfrm>
            <a:off x="819150" y="2641600"/>
            <a:ext cx="5905500" cy="861060"/>
          </a:xfrm>
          <a:prstGeom prst="roundRect">
            <a:avLst>
              <a:gd name="adj" fmla="val 11062"/>
            </a:avLst>
          </a:prstGeom>
          <a:solidFill>
            <a:srgbClr val="FCFBF7"/>
          </a:solidFill>
          <a:ln w="12700">
            <a:solidFill>
              <a:srgbClr val="DDD9CC"/>
            </a:solidFill>
            <a:prstDash val="solid"/>
          </a:ln>
        </p:spPr>
      </p:sp>
      <p:sp>
        <p:nvSpPr>
          <p:cNvPr id="8" name="Text 6"/>
          <p:cNvSpPr/>
          <p:nvPr/>
        </p:nvSpPr>
        <p:spPr>
          <a:xfrm>
            <a:off x="1026160" y="2876550"/>
            <a:ext cx="3556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5FBF"/>
                </a:solidFill>
                <a:latin typeface="IBM Plex Sans" pitchFamily="34" charset="0"/>
                <a:ea typeface="IBM Plex Sans" pitchFamily="34" charset="-122"/>
                <a:cs typeface="IBM Plex Sans" pitchFamily="34" charset="-120"/>
              </a:rPr>
              <a:t>2</a:t>
            </a:r>
            <a:endParaRPr lang="en-US" sz="2200" dirty="0"/>
          </a:p>
        </p:txBody>
      </p:sp>
      <p:sp>
        <p:nvSpPr>
          <p:cNvPr id="9" name="Text 7"/>
          <p:cNvSpPr/>
          <p:nvPr/>
        </p:nvSpPr>
        <p:spPr>
          <a:xfrm>
            <a:off x="1483360" y="2823211"/>
            <a:ext cx="51853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Ghép a ngay trước b tiết kiệm overlap(a, b) ký tự, chính là trọng số cạnh a → b.</a:t>
            </a:r>
            <a:endParaRPr lang="en-US" sz="1400" dirty="0"/>
          </a:p>
        </p:txBody>
      </p:sp>
      <p:sp>
        <p:nvSpPr>
          <p:cNvPr id="10" name="Shape 8"/>
          <p:cNvSpPr/>
          <p:nvPr/>
        </p:nvSpPr>
        <p:spPr>
          <a:xfrm>
            <a:off x="819150" y="3616961"/>
            <a:ext cx="5905500" cy="861060"/>
          </a:xfrm>
          <a:prstGeom prst="roundRect">
            <a:avLst>
              <a:gd name="adj" fmla="val 11062"/>
            </a:avLst>
          </a:prstGeom>
          <a:solidFill>
            <a:srgbClr val="FCFBF7"/>
          </a:solidFill>
          <a:ln w="12700">
            <a:solidFill>
              <a:srgbClr val="1F5FBF"/>
            </a:solidFill>
            <a:prstDash val="solid"/>
          </a:ln>
        </p:spPr>
      </p:sp>
      <p:sp>
        <p:nvSpPr>
          <p:cNvPr id="11" name="Text 9"/>
          <p:cNvSpPr/>
          <p:nvPr/>
        </p:nvSpPr>
        <p:spPr>
          <a:xfrm>
            <a:off x="1026160" y="3851911"/>
            <a:ext cx="3556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5FBF"/>
                </a:solidFill>
                <a:latin typeface="IBM Plex Sans" pitchFamily="34" charset="0"/>
                <a:ea typeface="IBM Plex Sans" pitchFamily="34" charset="-122"/>
                <a:cs typeface="IBM Plex Sans" pitchFamily="34" charset="-120"/>
              </a:rPr>
              <a:t>3</a:t>
            </a:r>
            <a:endParaRPr lang="en-US" sz="2200" dirty="0"/>
          </a:p>
        </p:txBody>
      </p:sp>
      <p:sp>
        <p:nvSpPr>
          <p:cNvPr id="12" name="Text 10"/>
          <p:cNvSpPr/>
          <p:nvPr/>
        </p:nvSpPr>
        <p:spPr>
          <a:xfrm>
            <a:off x="1483360" y="3798570"/>
            <a:ext cx="51853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Chọn đường đi có tổng trọng số lớn nhất. Độ dài = tổng độ dài chuỗi − tổng trọng số.</a:t>
            </a:r>
            <a:endParaRPr lang="en-US" sz="1400" dirty="0"/>
          </a:p>
        </p:txBody>
      </p:sp>
      <p:sp>
        <p:nvSpPr>
          <p:cNvPr id="13" name="Shape 11"/>
          <p:cNvSpPr/>
          <p:nvPr/>
        </p:nvSpPr>
        <p:spPr>
          <a:xfrm>
            <a:off x="6940550" y="1666241"/>
            <a:ext cx="4432300" cy="2933700"/>
          </a:xfrm>
          <a:prstGeom prst="roundRect">
            <a:avLst>
              <a:gd name="adj" fmla="val 3247"/>
            </a:avLst>
          </a:prstGeom>
          <a:solidFill>
            <a:srgbClr val="FCFBF7"/>
          </a:solidFill>
          <a:ln w="12700">
            <a:solidFill>
              <a:srgbClr val="DDD9CC"/>
            </a:solidFill>
            <a:prstDash val="solid"/>
          </a:ln>
        </p:spPr>
      </p:sp>
      <p:sp>
        <p:nvSpPr>
          <p:cNvPr id="14" name="Text 12"/>
          <p:cNvSpPr/>
          <p:nvPr/>
        </p:nvSpPr>
        <p:spPr>
          <a:xfrm>
            <a:off x="7147560" y="1873250"/>
            <a:ext cx="413882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IBM Plex Sans" pitchFamily="34" charset="0"/>
                <a:ea typeface="IBM Plex Sans" pitchFamily="34" charset="-122"/>
                <a:cs typeface="IBM Plex Sans" pitchFamily="34" charset="-120"/>
              </a:rPr>
              <a:t>Tìm chính xác thì tốn kém</a:t>
            </a:r>
            <a:endParaRPr lang="en-US" sz="1600" dirty="0"/>
          </a:p>
        </p:txBody>
      </p:sp>
      <p:sp>
        <p:nvSpPr>
          <p:cNvPr id="15" name="Text 13"/>
          <p:cNvSpPr/>
          <p:nvPr/>
        </p:nvSpPr>
        <p:spPr>
          <a:xfrm>
            <a:off x="7147560" y="2218691"/>
            <a:ext cx="41388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Thử mọi hoán vị: n! · DP bitmask: 2ⁿ · n²</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157720" y="2543810"/>
          <a:ext cx="4008120" cy="1534160"/>
        </p:xfrm>
        <a:graphic>
          <a:graphicData uri="http://schemas.openxmlformats.org/drawingml/2006/table">
            <a:tbl>
              <a:tblPr/>
              <a:tblGrid>
                <a:gridCol w="641299"/>
                <a:gridCol w="1763573"/>
                <a:gridCol w="1603248"/>
              </a:tblGrid>
              <a:tr h="383540">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n</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n!</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2ⁿ · n²</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5</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120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800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3.628.800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102.400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 2,4 × 10¹⁸</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 4,2 × 10⁸</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bl>
          </a:graphicData>
        </a:graphic>
      </p:graphicFrame>
      <p:sp>
        <p:nvSpPr>
          <p:cNvPr id="17" name="Text 14"/>
          <p:cNvSpPr/>
          <p:nvPr/>
        </p:nvSpPr>
        <p:spPr>
          <a:xfrm>
            <a:off x="7147560" y="4179570"/>
            <a:ext cx="41388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Bài toán này là NP, nên với n lớn không thể tìm chính xác.</a:t>
            </a:r>
            <a:endParaRPr lang="en-US" sz="1200" dirty="0"/>
          </a:p>
        </p:txBody>
      </p:sp>
      <p:sp>
        <p:nvSpPr>
          <p:cNvPr id="18" name="Text 15"/>
          <p:cNvSpPr/>
          <p:nvPr/>
        </p:nvSpPr>
        <p:spPr>
          <a:xfrm>
            <a:off x="9226550" y="844550"/>
            <a:ext cx="2146300" cy="322580"/>
          </a:xfrm>
          <a:custGeom>
            <a:avLst/>
            <a:gdLst/>
            <a:ahLst/>
            <a:cxnLst/>
            <a:rect l="l" t="t" r="r" b="b"/>
            <a:pathLst>
              <a:path w="2146300" h="322580">
                <a:moveTo>
                  <a:pt x="161290" y="0"/>
                </a:moveTo>
                <a:lnTo>
                  <a:pt x="1985010" y="0"/>
                </a:lnTo>
                <a:arcTo hR="161290" wR="161290" stAng="16200000" swAng="5400000"/>
                <a:lnTo>
                  <a:pt x="2146300" y="161290"/>
                </a:lnTo>
                <a:arcTo hR="161290" wR="161290" stAng="0" swAng="5400000"/>
                <a:lnTo>
                  <a:pt x="161290" y="322580"/>
                </a:lnTo>
                <a:arcTo hR="161290" wR="161290" stAng="5400000" swAng="5400000"/>
                <a:lnTo>
                  <a:pt x="0" y="161290"/>
                </a:lnTo>
                <a:arcTo hR="161290" wR="161290" stAng="10800000" swAng="5400000"/>
                <a:close/>
              </a:path>
            </a:pathLst>
          </a:custGeom>
          <a:solidFill>
            <a:srgbClr val="E4E9F3"/>
          </a:solidFill>
          <a:ln w="12700">
            <a:solidFill>
              <a:srgbClr val="1F5FBF"/>
            </a:solidFill>
            <a:prstDash val="solid"/>
          </a:ln>
        </p:spPr>
        <p:txBody>
          <a:bodyPr wrap="square" lIns="0" tIns="54610" rIns="0" bIns="29210" rtlCol="0" anchor="t">
            <a:normAutofit/>
          </a:bodyPr>
          <a:lstStyle/>
          <a:p>
            <a:pPr algn="ctr" indent="0" marL="0">
              <a:lnSpc>
                <a:spcPts val="1680"/>
              </a:lnSpc>
              <a:buNone/>
            </a:pPr>
            <a:r>
              <a:rPr lang="en-US" sz="1200" b="1" spc="100" kern="0" dirty="0">
                <a:solidFill>
                  <a:srgbClr val="174A99"/>
                </a:solidFill>
                <a:latin typeface="IBM Plex Sans" pitchFamily="34" charset="0"/>
                <a:ea typeface="IBM Plex Sans" pitchFamily="34" charset="-122"/>
                <a:cs typeface="IBM Plex Sans" pitchFamily="34" charset="-120"/>
              </a:rPr>
              <a:t>MÔ HÌNH · HAMILTON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2292350"/>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Hàng a, cột b: overlap(a, b)</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592071"/>
          <a:ext cx="6339840" cy="2301240"/>
        </p:xfrm>
        <a:graphic>
          <a:graphicData uri="http://schemas.openxmlformats.org/drawingml/2006/table">
            <a:tbl>
              <a:tblPr/>
              <a:tblGrid>
                <a:gridCol w="1267968"/>
                <a:gridCol w="1014374"/>
                <a:gridCol w="1014374"/>
                <a:gridCol w="1014374"/>
                <a:gridCol w="1014374"/>
                <a:gridCol w="1014374"/>
              </a:tblGrid>
              <a:tr h="383540">
                <a:tc>
                  <a:txBody>
                    <a:bodyPr/>
                    <a:lstStyle/>
                    <a:p>
                      <a:pPr indent="0" marL="0">
                        <a:lnSpc>
                          <a:spcPts val="1960"/>
                        </a:lnSpc>
                        <a:buNone/>
                      </a:pP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AAA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AAB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BBB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BBA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AAA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AAB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BBB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BBA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4" name="Shape 1"/>
          <p:cNvSpPr/>
          <p:nvPr/>
        </p:nvSpPr>
        <p:spPr>
          <a:xfrm>
            <a:off x="7473950" y="2298700"/>
            <a:ext cx="3898900" cy="2834640"/>
          </a:xfrm>
          <a:prstGeom prst="roundRect">
            <a:avLst>
              <a:gd name="adj" fmla="val 3360"/>
            </a:avLst>
          </a:prstGeom>
          <a:solidFill>
            <a:srgbClr val="FCFBF7"/>
          </a:solidFill>
          <a:ln w="12700">
            <a:solidFill>
              <a:srgbClr val="DDD9CC"/>
            </a:solidFill>
            <a:prstDash val="solid"/>
          </a:ln>
        </p:spPr>
      </p:sp>
      <p:sp>
        <p:nvSpPr>
          <p:cNvPr id="5" name="Text 2"/>
          <p:cNvSpPr/>
          <p:nvPr/>
        </p:nvSpPr>
        <p:spPr>
          <a:xfrm>
            <a:off x="7680960" y="2505711"/>
            <a:ext cx="358942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IBM Plex Sans" pitchFamily="34" charset="0"/>
                <a:ea typeface="IBM Plex Sans" pitchFamily="34" charset="-122"/>
                <a:cs typeface="IBM Plex Sans" pitchFamily="34" charset="-120"/>
              </a:rPr>
              <a:t>Năm cạnh cùng trọng số 2</a:t>
            </a:r>
            <a:endParaRPr lang="en-US" sz="1600" dirty="0"/>
          </a:p>
        </p:txBody>
      </p:sp>
      <p:sp>
        <p:nvSpPr>
          <p:cNvPr id="6" name="Text 3"/>
          <p:cNvSpPr/>
          <p:nvPr/>
        </p:nvSpPr>
        <p:spPr>
          <a:xfrm>
            <a:off x="7680960" y="2851150"/>
            <a:ext cx="3589426" cy="13589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B2430"/>
                </a:solidFill>
                <a:latin typeface="JetBrains Mono" pitchFamily="49" charset="0"/>
                <a:ea typeface="JetBrains Mono" pitchFamily="49" charset="-122"/>
                <a:cs typeface="JetBrains Mono" pitchFamily="49" charset="-120"/>
              </a:rPr>
              <a:t>AAA → AAB</a:t>
            </a:r>
            <a:endParaRPr lang="en-US" sz="1400" dirty="0"/>
          </a:p>
          <a:p>
            <a:pPr algn="l" indent="0" marL="0">
              <a:lnSpc>
                <a:spcPts val="2100"/>
              </a:lnSpc>
              <a:buNone/>
            </a:pPr>
            <a:r>
              <a:rPr lang="en-US" sz="1400" dirty="0">
                <a:solidFill>
                  <a:srgbClr val="1B2430"/>
                </a:solidFill>
                <a:latin typeface="JetBrains Mono" pitchFamily="49" charset="0"/>
                <a:ea typeface="JetBrains Mono" pitchFamily="49" charset="-122"/>
                <a:cs typeface="JetBrains Mono" pitchFamily="49" charset="-120"/>
              </a:rPr>
              <a:t>AAB → ABB</a:t>
            </a:r>
            <a:endParaRPr lang="en-US" sz="1400" dirty="0"/>
          </a:p>
          <a:p>
            <a:pPr algn="l" indent="0" marL="0">
              <a:lnSpc>
                <a:spcPts val="2100"/>
              </a:lnSpc>
              <a:buNone/>
            </a:pPr>
            <a:r>
              <a:rPr lang="en-US" sz="1400" dirty="0">
                <a:solidFill>
                  <a:srgbClr val="1B2430"/>
                </a:solidFill>
                <a:latin typeface="JetBrains Mono" pitchFamily="49" charset="0"/>
                <a:ea typeface="JetBrains Mono" pitchFamily="49" charset="-122"/>
                <a:cs typeface="JetBrains Mono" pitchFamily="49" charset="-120"/>
              </a:rPr>
              <a:t>ABB → BBB</a:t>
            </a:r>
            <a:endParaRPr lang="en-US" sz="1400" dirty="0"/>
          </a:p>
          <a:p>
            <a:pPr algn="l" indent="0" marL="0">
              <a:lnSpc>
                <a:spcPts val="2100"/>
              </a:lnSpc>
              <a:buNone/>
            </a:pPr>
            <a:r>
              <a:rPr lang="en-US" sz="1400" dirty="0">
                <a:solidFill>
                  <a:srgbClr val="1B2430"/>
                </a:solidFill>
                <a:latin typeface="JetBrains Mono" pitchFamily="49" charset="0"/>
                <a:ea typeface="JetBrains Mono" pitchFamily="49" charset="-122"/>
                <a:cs typeface="JetBrains Mono" pitchFamily="49" charset="-120"/>
              </a:rPr>
              <a:t>ABB → BBA</a:t>
            </a:r>
            <a:endParaRPr lang="en-US" sz="1400" dirty="0"/>
          </a:p>
          <a:p>
            <a:pPr algn="l" indent="0" marL="0">
              <a:lnSpc>
                <a:spcPts val="2100"/>
              </a:lnSpc>
              <a:buNone/>
            </a:pPr>
            <a:r>
              <a:rPr lang="en-US" sz="1400" dirty="0">
                <a:solidFill>
                  <a:srgbClr val="1B2430"/>
                </a:solidFill>
                <a:latin typeface="JetBrains Mono" pitchFamily="49" charset="0"/>
                <a:ea typeface="JetBrains Mono" pitchFamily="49" charset="-122"/>
                <a:cs typeface="JetBrains Mono" pitchFamily="49" charset="-120"/>
              </a:rPr>
              <a:t>BBB → BBA</a:t>
            </a:r>
            <a:endParaRPr lang="en-US" sz="1400" dirty="0"/>
          </a:p>
        </p:txBody>
      </p:sp>
      <p:sp>
        <p:nvSpPr>
          <p:cNvPr id="7" name="Text 4"/>
          <p:cNvSpPr/>
          <p:nvPr/>
        </p:nvSpPr>
        <p:spPr>
          <a:xfrm>
            <a:off x="7779766" y="4286250"/>
            <a:ext cx="3483000" cy="66548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5A6573"/>
                </a:solidFill>
                <a:latin typeface="IBM Plex Sans" pitchFamily="34" charset="0"/>
                <a:ea typeface="IBM Plex Sans" pitchFamily="34" charset="-122"/>
                <a:cs typeface="IBM Plex Sans" pitchFamily="34" charset="-120"/>
              </a:rPr>
              <a:t>Cạnh AAA - AAB đứng đầu theo thứ tự quét nên được chọn trước. </a:t>
            </a:r>
            <a:endParaRPr lang="en-US" sz="1200" dirty="0"/>
          </a:p>
          <a:p>
            <a:pPr algn="l" marL="155194" indent="-155194">
              <a:lnSpc>
                <a:spcPts val="1680"/>
              </a:lnSpc>
              <a:buSzPct val="100000"/>
              <a:buChar char="•"/>
            </a:pPr>
            <a:r>
              <a:rPr lang="en-US" sz="1200" dirty="0">
                <a:solidFill>
                  <a:srgbClr val="5A6573"/>
                </a:solidFill>
                <a:latin typeface="IBM Plex Sans" pitchFamily="34" charset="0"/>
                <a:ea typeface="IBM Plex Sans" pitchFamily="34" charset="-122"/>
                <a:cs typeface="IBM Plex Sans" pitchFamily="34" charset="-120"/>
              </a:rPr>
              <a:t>Brute-force 120 hoán vị cho kết quả tối ưu là 7.</a:t>
            </a:r>
            <a:endParaRPr lang="en-US" sz="1200" dirty="0"/>
          </a:p>
        </p:txBody>
      </p:sp>
      <p:sp>
        <p:nvSpPr>
          <p:cNvPr id="8" name="Text 5"/>
          <p:cNvSpPr/>
          <p:nvPr/>
        </p:nvSpPr>
        <p:spPr>
          <a:xfrm>
            <a:off x="9226550" y="844550"/>
            <a:ext cx="2146300" cy="322580"/>
          </a:xfrm>
          <a:custGeom>
            <a:avLst/>
            <a:gdLst/>
            <a:ahLst/>
            <a:cxnLst/>
            <a:rect l="l" t="t" r="r" b="b"/>
            <a:pathLst>
              <a:path w="2146300" h="322580">
                <a:moveTo>
                  <a:pt x="161290" y="0"/>
                </a:moveTo>
                <a:lnTo>
                  <a:pt x="1985010" y="0"/>
                </a:lnTo>
                <a:arcTo hR="161290" wR="161290" stAng="16200000" swAng="5400000"/>
                <a:lnTo>
                  <a:pt x="2146300" y="161290"/>
                </a:lnTo>
                <a:arcTo hR="161290" wR="161290" stAng="0" swAng="5400000"/>
                <a:lnTo>
                  <a:pt x="161290" y="322580"/>
                </a:lnTo>
                <a:arcTo hR="161290" wR="161290" stAng="5400000" swAng="5400000"/>
                <a:lnTo>
                  <a:pt x="0" y="161290"/>
                </a:lnTo>
                <a:arcTo hR="161290" wR="161290" stAng="10800000" swAng="5400000"/>
                <a:close/>
              </a:path>
            </a:pathLst>
          </a:custGeom>
          <a:solidFill>
            <a:srgbClr val="E4E9F3"/>
          </a:solidFill>
          <a:ln w="12700">
            <a:solidFill>
              <a:srgbClr val="1F5FBF"/>
            </a:solidFill>
            <a:prstDash val="solid"/>
          </a:ln>
        </p:spPr>
        <p:txBody>
          <a:bodyPr wrap="square" lIns="0" tIns="54610" rIns="0" bIns="29210" rtlCol="0" anchor="t">
            <a:normAutofit/>
          </a:bodyPr>
          <a:lstStyle/>
          <a:p>
            <a:pPr algn="ctr" indent="0" marL="0">
              <a:lnSpc>
                <a:spcPts val="1680"/>
              </a:lnSpc>
              <a:buNone/>
            </a:pPr>
            <a:r>
              <a:rPr lang="en-US" sz="1200" b="1" spc="100" kern="0" dirty="0">
                <a:solidFill>
                  <a:srgbClr val="174A99"/>
                </a:solidFill>
                <a:latin typeface="IBM Plex Sans" pitchFamily="34" charset="0"/>
                <a:ea typeface="IBM Plex Sans" pitchFamily="34" charset="-122"/>
                <a:cs typeface="IBM Plex Sans" pitchFamily="34" charset="-120"/>
              </a:rPr>
              <a:t>MÔ HÌNH · HAMILTON</a:t>
            </a:r>
            <a:endParaRPr lang="en-US" sz="1200" dirty="0"/>
          </a:p>
        </p:txBody>
      </p:sp>
      <p:sp>
        <p:nvSpPr>
          <p:cNvPr id="9" name="Text 6"/>
          <p:cNvSpPr/>
          <p:nvPr/>
        </p:nvSpPr>
        <p:spPr>
          <a:xfrm>
            <a:off x="819150" y="1663700"/>
            <a:ext cx="67945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AAA</a:t>
            </a:r>
            <a:endParaRPr lang="en-US" sz="1600" dirty="0"/>
          </a:p>
        </p:txBody>
      </p:sp>
      <p:sp>
        <p:nvSpPr>
          <p:cNvPr id="10" name="Text 7"/>
          <p:cNvSpPr/>
          <p:nvPr/>
        </p:nvSpPr>
        <p:spPr>
          <a:xfrm>
            <a:off x="1612900" y="1663700"/>
            <a:ext cx="67945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AAB</a:t>
            </a:r>
            <a:endParaRPr lang="en-US" sz="1600" dirty="0"/>
          </a:p>
        </p:txBody>
      </p:sp>
      <p:sp>
        <p:nvSpPr>
          <p:cNvPr id="11" name="Text 8"/>
          <p:cNvSpPr/>
          <p:nvPr/>
        </p:nvSpPr>
        <p:spPr>
          <a:xfrm>
            <a:off x="2406650" y="1663700"/>
            <a:ext cx="67945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ABB</a:t>
            </a:r>
            <a:endParaRPr lang="en-US" sz="1600" dirty="0"/>
          </a:p>
        </p:txBody>
      </p:sp>
      <p:sp>
        <p:nvSpPr>
          <p:cNvPr id="12" name="Text 9"/>
          <p:cNvSpPr/>
          <p:nvPr/>
        </p:nvSpPr>
        <p:spPr>
          <a:xfrm>
            <a:off x="3194050" y="1663700"/>
            <a:ext cx="67945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BBB</a:t>
            </a:r>
            <a:endParaRPr lang="en-US" sz="1600" dirty="0"/>
          </a:p>
        </p:txBody>
      </p:sp>
      <p:sp>
        <p:nvSpPr>
          <p:cNvPr id="13" name="Text 10"/>
          <p:cNvSpPr/>
          <p:nvPr/>
        </p:nvSpPr>
        <p:spPr>
          <a:xfrm>
            <a:off x="3987800" y="1663700"/>
            <a:ext cx="67945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BBA</a:t>
            </a:r>
            <a:endParaRPr lang="en-US" sz="1600" dirty="0"/>
          </a:p>
        </p:txBody>
      </p:sp>
      <p:sp>
        <p:nvSpPr>
          <p:cNvPr id="14" name="Text 1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VÍ DỤ · AAA / BBB</a:t>
            </a:r>
            <a:endParaRPr lang="en-US" sz="1200" dirty="0"/>
          </a:p>
        </p:txBody>
      </p:sp>
      <p:sp>
        <p:nvSpPr>
          <p:cNvPr id="15" name="Text 12"/>
          <p:cNvSpPr/>
          <p:nvPr>
            <p:ph type="title"/>
          </p:nvPr>
        </p:nvSpPr>
        <p:spPr>
          <a:xfrm>
            <a:off x="812800" y="1079500"/>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430"/>
                </a:solidFill>
                <a:latin typeface="IBM Plex Sans" pitchFamily="34" charset="0"/>
                <a:ea typeface="IBM Plex Sans" pitchFamily="34" charset="-122"/>
                <a:cs typeface="IBM Plex Sans" pitchFamily="34" charset="-120"/>
              </a:rPr>
              <a:t>Bảng overlap và năm cặp hoà</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VÍ DỤ · MÔ HÌNH HOÁ BẰNG ĐỒ THỊ</a:t>
            </a:r>
            <a:endParaRPr lang="en-US" sz="1200" dirty="0"/>
          </a:p>
        </p:txBody>
      </p:sp>
      <p:sp>
        <p:nvSpPr>
          <p:cNvPr id="3" name="Text 1"/>
          <p:cNvSpPr/>
          <p:nvPr>
            <p:ph type="title"/>
          </p:nvPr>
        </p:nvSpPr>
        <p:spPr>
          <a:xfrm>
            <a:off x="812800" y="1076961"/>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430"/>
                </a:solidFill>
                <a:latin typeface="IBM Plex Sans" pitchFamily="34" charset="0"/>
                <a:ea typeface="IBM Plex Sans" pitchFamily="34" charset="-122"/>
                <a:cs typeface="IBM Plex Sans" pitchFamily="34" charset="-120"/>
              </a:rPr>
              <a:t>Đồ thị chồng lấp của AAA / BBB</a:t>
            </a:r>
            <a:endParaRPr lang="en-US" sz="2600" dirty="0"/>
          </a:p>
        </p:txBody>
      </p:sp>
      <p:sp>
        <p:nvSpPr>
          <p:cNvPr id="4" name="Shape 2"/>
          <p:cNvSpPr/>
          <p:nvPr/>
        </p:nvSpPr>
        <p:spPr>
          <a:xfrm>
            <a:off x="819150" y="1663700"/>
            <a:ext cx="6337300" cy="2971800"/>
          </a:xfrm>
          <a:prstGeom prst="roundRect">
            <a:avLst>
              <a:gd name="adj" fmla="val 3205"/>
            </a:avLst>
          </a:prstGeom>
          <a:solidFill>
            <a:srgbClr val="FCFBF7"/>
          </a:solidFill>
          <a:ln w="12700">
            <a:solidFill>
              <a:srgbClr val="DDD9CC"/>
            </a:solidFill>
            <a:prstDash val="solid"/>
          </a:ln>
        </p:spPr>
      </p:sp>
      <p:pic>
        <p:nvPicPr>
          <p:cNvPr id="5" name="Image 0" descr="connector">    </p:cNvPr>
          <p:cNvPicPr>
            <a:picLocks noChangeAspect="1"/>
          </p:cNvPicPr>
          <p:nvPr/>
        </p:nvPicPr>
        <p:blipFill>
          <a:blip r:embed="rId1"/>
          <a:srcRect l="0" r="0" t="0" b="0"/>
          <a:stretch/>
        </p:blipFill>
        <p:spPr>
          <a:xfrm>
            <a:off x="1866900" y="3676650"/>
            <a:ext cx="685800" cy="152400"/>
          </a:xfrm>
          <a:prstGeom prst="rect">
            <a:avLst/>
          </a:prstGeom>
        </p:spPr>
      </p:pic>
      <p:pic>
        <p:nvPicPr>
          <p:cNvPr id="6" name="Image 1" descr="connector">    </p:cNvPr>
          <p:cNvPicPr>
            <a:picLocks noChangeAspect="1"/>
          </p:cNvPicPr>
          <p:nvPr/>
        </p:nvPicPr>
        <p:blipFill>
          <a:blip r:embed="rId2"/>
          <a:srcRect l="0" r="0" t="0" b="0"/>
          <a:stretch/>
        </p:blipFill>
        <p:spPr>
          <a:xfrm>
            <a:off x="3263900" y="3676650"/>
            <a:ext cx="812800" cy="152400"/>
          </a:xfrm>
          <a:prstGeom prst="rect">
            <a:avLst/>
          </a:prstGeom>
        </p:spPr>
      </p:pic>
      <p:pic>
        <p:nvPicPr>
          <p:cNvPr id="7" name="Image 2" descr="connector">    </p:cNvPr>
          <p:cNvPicPr>
            <a:picLocks noChangeAspect="1"/>
          </p:cNvPicPr>
          <p:nvPr/>
        </p:nvPicPr>
        <p:blipFill>
          <a:blip r:embed="rId3"/>
          <a:srcRect l="0" r="0" t="0" b="0"/>
          <a:stretch/>
        </p:blipFill>
        <p:spPr>
          <a:xfrm>
            <a:off x="4635500" y="2787650"/>
            <a:ext cx="863600" cy="787400"/>
          </a:xfrm>
          <a:prstGeom prst="rect">
            <a:avLst/>
          </a:prstGeom>
        </p:spPr>
      </p:pic>
      <p:pic>
        <p:nvPicPr>
          <p:cNvPr id="8" name="Image 3" descr="connector">    </p:cNvPr>
          <p:cNvPicPr>
            <a:picLocks noChangeAspect="1"/>
          </p:cNvPicPr>
          <p:nvPr/>
        </p:nvPicPr>
        <p:blipFill>
          <a:blip r:embed="rId4"/>
          <a:srcRect l="0" r="0" t="0" b="0"/>
          <a:stretch/>
        </p:blipFill>
        <p:spPr>
          <a:xfrm>
            <a:off x="5854700" y="2787650"/>
            <a:ext cx="711200" cy="787400"/>
          </a:xfrm>
          <a:prstGeom prst="rect">
            <a:avLst/>
          </a:prstGeom>
        </p:spPr>
      </p:pic>
      <p:pic>
        <p:nvPicPr>
          <p:cNvPr id="9" name="Image 4" descr="connector">    </p:cNvPr>
          <p:cNvPicPr>
            <a:picLocks noChangeAspect="1"/>
          </p:cNvPicPr>
          <p:nvPr/>
        </p:nvPicPr>
        <p:blipFill>
          <a:blip r:embed="rId5"/>
          <a:srcRect l="0" r="0" t="0" b="0"/>
          <a:stretch/>
        </p:blipFill>
        <p:spPr>
          <a:xfrm>
            <a:off x="4787900" y="3676650"/>
            <a:ext cx="1574800" cy="152400"/>
          </a:xfrm>
          <a:prstGeom prst="rect">
            <a:avLst/>
          </a:prstGeom>
        </p:spPr>
      </p:pic>
      <p:sp>
        <p:nvSpPr>
          <p:cNvPr id="10" name="Text 3"/>
          <p:cNvSpPr/>
          <p:nvPr/>
        </p:nvSpPr>
        <p:spPr>
          <a:xfrm>
            <a:off x="1136650" y="3556000"/>
            <a:ext cx="749300" cy="414734"/>
          </a:xfrm>
          <a:custGeom>
            <a:avLst/>
            <a:gdLst/>
            <a:ahLst/>
            <a:cxnLst/>
            <a:rect l="l" t="t" r="r" b="b"/>
            <a:pathLst>
              <a:path w="749300" h="414734">
                <a:moveTo>
                  <a:pt x="82550" y="0"/>
                </a:moveTo>
                <a:lnTo>
                  <a:pt x="666750" y="0"/>
                </a:lnTo>
                <a:arcTo hR="82550" wR="82550" stAng="16200000" swAng="5400000"/>
                <a:lnTo>
                  <a:pt x="749300" y="332184"/>
                </a:lnTo>
                <a:arcTo hR="82550" wR="82550" stAng="0" swAng="5400000"/>
                <a:lnTo>
                  <a:pt x="82550" y="414734"/>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3206"/>
              </a:lnSpc>
              <a:buNone/>
            </a:pPr>
            <a:r>
              <a:rPr lang="en-US" sz="1400" b="1" dirty="0">
                <a:solidFill>
                  <a:srgbClr val="1B2430"/>
                </a:solidFill>
                <a:latin typeface="JetBrains Mono" pitchFamily="49" charset="0"/>
                <a:ea typeface="JetBrains Mono" pitchFamily="49" charset="-122"/>
                <a:cs typeface="JetBrains Mono" pitchFamily="49" charset="-120"/>
              </a:rPr>
              <a:t>AAA</a:t>
            </a:r>
            <a:endParaRPr lang="en-US" sz="1400" dirty="0"/>
          </a:p>
        </p:txBody>
      </p:sp>
      <p:sp>
        <p:nvSpPr>
          <p:cNvPr id="11" name="Text 4"/>
          <p:cNvSpPr/>
          <p:nvPr/>
        </p:nvSpPr>
        <p:spPr>
          <a:xfrm>
            <a:off x="2533650" y="3556000"/>
            <a:ext cx="749300" cy="414734"/>
          </a:xfrm>
          <a:custGeom>
            <a:avLst/>
            <a:gdLst/>
            <a:ahLst/>
            <a:cxnLst/>
            <a:rect l="l" t="t" r="r" b="b"/>
            <a:pathLst>
              <a:path w="749300" h="414734">
                <a:moveTo>
                  <a:pt x="82550" y="0"/>
                </a:moveTo>
                <a:lnTo>
                  <a:pt x="666750" y="0"/>
                </a:lnTo>
                <a:arcTo hR="82550" wR="82550" stAng="16200000" swAng="5400000"/>
                <a:lnTo>
                  <a:pt x="749300" y="332184"/>
                </a:lnTo>
                <a:arcTo hR="82550" wR="82550" stAng="0" swAng="5400000"/>
                <a:lnTo>
                  <a:pt x="82550" y="414734"/>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3206"/>
              </a:lnSpc>
              <a:buNone/>
            </a:pPr>
            <a:r>
              <a:rPr lang="en-US" sz="1400" b="1" dirty="0">
                <a:solidFill>
                  <a:srgbClr val="1B2430"/>
                </a:solidFill>
                <a:latin typeface="JetBrains Mono" pitchFamily="49" charset="0"/>
                <a:ea typeface="JetBrains Mono" pitchFamily="49" charset="-122"/>
                <a:cs typeface="JetBrains Mono" pitchFamily="49" charset="-120"/>
              </a:rPr>
              <a:t>AAB</a:t>
            </a:r>
            <a:endParaRPr lang="en-US" sz="1400" dirty="0"/>
          </a:p>
        </p:txBody>
      </p:sp>
      <p:sp>
        <p:nvSpPr>
          <p:cNvPr id="12" name="Text 5"/>
          <p:cNvSpPr/>
          <p:nvPr/>
        </p:nvSpPr>
        <p:spPr>
          <a:xfrm>
            <a:off x="4057650" y="3556000"/>
            <a:ext cx="749300" cy="414734"/>
          </a:xfrm>
          <a:custGeom>
            <a:avLst/>
            <a:gdLst/>
            <a:ahLst/>
            <a:cxnLst/>
            <a:rect l="l" t="t" r="r" b="b"/>
            <a:pathLst>
              <a:path w="749300" h="414734">
                <a:moveTo>
                  <a:pt x="82550" y="0"/>
                </a:moveTo>
                <a:lnTo>
                  <a:pt x="666750" y="0"/>
                </a:lnTo>
                <a:arcTo hR="82550" wR="82550" stAng="16200000" swAng="5400000"/>
                <a:lnTo>
                  <a:pt x="749300" y="332184"/>
                </a:lnTo>
                <a:arcTo hR="82550" wR="82550" stAng="0" swAng="5400000"/>
                <a:lnTo>
                  <a:pt x="82550" y="414734"/>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3206"/>
              </a:lnSpc>
              <a:buNone/>
            </a:pPr>
            <a:r>
              <a:rPr lang="en-US" sz="1400" b="1" dirty="0">
                <a:solidFill>
                  <a:srgbClr val="1B2430"/>
                </a:solidFill>
                <a:latin typeface="JetBrains Mono" pitchFamily="49" charset="0"/>
                <a:ea typeface="JetBrains Mono" pitchFamily="49" charset="-122"/>
                <a:cs typeface="JetBrains Mono" pitchFamily="49" charset="-120"/>
              </a:rPr>
              <a:t>ABB</a:t>
            </a:r>
            <a:endParaRPr lang="en-US" sz="1400" dirty="0"/>
          </a:p>
        </p:txBody>
      </p:sp>
      <p:sp>
        <p:nvSpPr>
          <p:cNvPr id="13" name="Text 6"/>
          <p:cNvSpPr/>
          <p:nvPr/>
        </p:nvSpPr>
        <p:spPr>
          <a:xfrm>
            <a:off x="5327650" y="2413000"/>
            <a:ext cx="749300" cy="414734"/>
          </a:xfrm>
          <a:custGeom>
            <a:avLst/>
            <a:gdLst/>
            <a:ahLst/>
            <a:cxnLst/>
            <a:rect l="l" t="t" r="r" b="b"/>
            <a:pathLst>
              <a:path w="749300" h="414734">
                <a:moveTo>
                  <a:pt x="82550" y="0"/>
                </a:moveTo>
                <a:lnTo>
                  <a:pt x="666750" y="0"/>
                </a:lnTo>
                <a:arcTo hR="82550" wR="82550" stAng="16200000" swAng="5400000"/>
                <a:lnTo>
                  <a:pt x="749300" y="332184"/>
                </a:lnTo>
                <a:arcTo hR="82550" wR="82550" stAng="0" swAng="5400000"/>
                <a:lnTo>
                  <a:pt x="82550" y="414734"/>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3206"/>
              </a:lnSpc>
              <a:buNone/>
            </a:pPr>
            <a:r>
              <a:rPr lang="en-US" sz="1400" b="1" dirty="0">
                <a:solidFill>
                  <a:srgbClr val="1B2430"/>
                </a:solidFill>
                <a:latin typeface="JetBrains Mono" pitchFamily="49" charset="0"/>
                <a:ea typeface="JetBrains Mono" pitchFamily="49" charset="-122"/>
                <a:cs typeface="JetBrains Mono" pitchFamily="49" charset="-120"/>
              </a:rPr>
              <a:t>BBB</a:t>
            </a:r>
            <a:endParaRPr lang="en-US" sz="1400" dirty="0"/>
          </a:p>
        </p:txBody>
      </p:sp>
      <p:sp>
        <p:nvSpPr>
          <p:cNvPr id="14" name="Text 7"/>
          <p:cNvSpPr/>
          <p:nvPr/>
        </p:nvSpPr>
        <p:spPr>
          <a:xfrm>
            <a:off x="6343650" y="3556000"/>
            <a:ext cx="749300" cy="414734"/>
          </a:xfrm>
          <a:custGeom>
            <a:avLst/>
            <a:gdLst/>
            <a:ahLst/>
            <a:cxnLst/>
            <a:rect l="l" t="t" r="r" b="b"/>
            <a:pathLst>
              <a:path w="749300" h="414734">
                <a:moveTo>
                  <a:pt x="82550" y="0"/>
                </a:moveTo>
                <a:lnTo>
                  <a:pt x="666750" y="0"/>
                </a:lnTo>
                <a:arcTo hR="82550" wR="82550" stAng="16200000" swAng="5400000"/>
                <a:lnTo>
                  <a:pt x="749300" y="332184"/>
                </a:lnTo>
                <a:arcTo hR="82550" wR="82550" stAng="0" swAng="5400000"/>
                <a:lnTo>
                  <a:pt x="82550" y="414734"/>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3206"/>
              </a:lnSpc>
              <a:buNone/>
            </a:pPr>
            <a:r>
              <a:rPr lang="en-US" sz="1400" b="1" dirty="0">
                <a:solidFill>
                  <a:srgbClr val="1B2430"/>
                </a:solidFill>
                <a:latin typeface="JetBrains Mono" pitchFamily="49" charset="0"/>
                <a:ea typeface="JetBrains Mono" pitchFamily="49" charset="-122"/>
                <a:cs typeface="JetBrains Mono" pitchFamily="49" charset="-120"/>
              </a:rPr>
              <a:t>BBA</a:t>
            </a:r>
            <a:endParaRPr lang="en-US" sz="1400" dirty="0"/>
          </a:p>
        </p:txBody>
      </p:sp>
      <p:sp>
        <p:nvSpPr>
          <p:cNvPr id="15" name="Text 8"/>
          <p:cNvSpPr/>
          <p:nvPr/>
        </p:nvSpPr>
        <p:spPr>
          <a:xfrm>
            <a:off x="2057400" y="3409950"/>
            <a:ext cx="30480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2</a:t>
            </a:r>
            <a:endParaRPr lang="en-US" sz="1400" dirty="0"/>
          </a:p>
        </p:txBody>
      </p:sp>
      <p:sp>
        <p:nvSpPr>
          <p:cNvPr id="16" name="Text 9"/>
          <p:cNvSpPr/>
          <p:nvPr/>
        </p:nvSpPr>
        <p:spPr>
          <a:xfrm>
            <a:off x="3517900" y="3409950"/>
            <a:ext cx="30480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2</a:t>
            </a:r>
            <a:endParaRPr lang="en-US" sz="1400" dirty="0"/>
          </a:p>
        </p:txBody>
      </p:sp>
      <p:sp>
        <p:nvSpPr>
          <p:cNvPr id="17" name="Text 10"/>
          <p:cNvSpPr/>
          <p:nvPr/>
        </p:nvSpPr>
        <p:spPr>
          <a:xfrm>
            <a:off x="4597400" y="2965450"/>
            <a:ext cx="30480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2</a:t>
            </a:r>
            <a:endParaRPr lang="en-US" sz="1400" dirty="0"/>
          </a:p>
        </p:txBody>
      </p:sp>
      <p:sp>
        <p:nvSpPr>
          <p:cNvPr id="18" name="Text 11"/>
          <p:cNvSpPr/>
          <p:nvPr/>
        </p:nvSpPr>
        <p:spPr>
          <a:xfrm>
            <a:off x="6184900" y="2965450"/>
            <a:ext cx="30480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2</a:t>
            </a:r>
            <a:endParaRPr lang="en-US" sz="1400" dirty="0"/>
          </a:p>
        </p:txBody>
      </p:sp>
      <p:sp>
        <p:nvSpPr>
          <p:cNvPr id="19" name="Text 12"/>
          <p:cNvSpPr/>
          <p:nvPr/>
        </p:nvSpPr>
        <p:spPr>
          <a:xfrm>
            <a:off x="5422900" y="3867150"/>
            <a:ext cx="30480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2</a:t>
            </a:r>
            <a:endParaRPr lang="en-US" sz="1400" dirty="0"/>
          </a:p>
        </p:txBody>
      </p:sp>
      <p:sp>
        <p:nvSpPr>
          <p:cNvPr id="20" name="Text 13"/>
          <p:cNvSpPr/>
          <p:nvPr/>
        </p:nvSpPr>
        <p:spPr>
          <a:xfrm>
            <a:off x="965200" y="1784350"/>
            <a:ext cx="34010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Chỉ vẽ cạnh trọng số 2. sáu cạnh trọng số 1 được ẩn cho gọn.</a:t>
            </a:r>
            <a:endParaRPr lang="en-US" sz="1200" dirty="0"/>
          </a:p>
        </p:txBody>
      </p:sp>
      <p:sp>
        <p:nvSpPr>
          <p:cNvPr id="21" name="Shape 14"/>
          <p:cNvSpPr/>
          <p:nvPr/>
        </p:nvSpPr>
        <p:spPr>
          <a:xfrm>
            <a:off x="7372350" y="1663700"/>
            <a:ext cx="4000500" cy="3238500"/>
          </a:xfrm>
          <a:prstGeom prst="roundRect">
            <a:avLst>
              <a:gd name="adj" fmla="val 2941"/>
            </a:avLst>
          </a:prstGeom>
          <a:solidFill>
            <a:srgbClr val="FCFBF7"/>
          </a:solidFill>
          <a:ln w="12700">
            <a:solidFill>
              <a:srgbClr val="DDD9CC"/>
            </a:solidFill>
            <a:prstDash val="solid"/>
          </a:ln>
        </p:spPr>
      </p:sp>
      <p:sp>
        <p:nvSpPr>
          <p:cNvPr id="22" name="Text 15"/>
          <p:cNvSpPr/>
          <p:nvPr/>
        </p:nvSpPr>
        <p:spPr>
          <a:xfrm>
            <a:off x="7579360" y="1870711"/>
            <a:ext cx="369407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IBM Plex Sans" pitchFamily="34" charset="0"/>
                <a:ea typeface="IBM Plex Sans" pitchFamily="34" charset="-122"/>
                <a:cs typeface="IBM Plex Sans" pitchFamily="34" charset="-120"/>
              </a:rPr>
              <a:t>5 đỉnh, 11 cạnh</a:t>
            </a:r>
            <a:endParaRPr lang="en-US" sz="1600" dirty="0"/>
          </a:p>
        </p:txBody>
      </p:sp>
      <p:sp>
        <p:nvSpPr>
          <p:cNvPr id="23" name="Text 16"/>
          <p:cNvSpPr/>
          <p:nvPr/>
        </p:nvSpPr>
        <p:spPr>
          <a:xfrm>
            <a:off x="7579360" y="2216150"/>
            <a:ext cx="369407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Đỉnh:</a:t>
            </a:r>
            <a:r>
              <a:rPr lang="en-US" sz="1400" dirty="0">
                <a:solidFill>
                  <a:srgbClr val="1B2430"/>
                </a:solidFill>
                <a:latin typeface="IBM Plex Sans" pitchFamily="34" charset="0"/>
                <a:ea typeface="IBM Plex Sans" pitchFamily="34" charset="-122"/>
                <a:cs typeface="IBM Plex Sans" pitchFamily="34" charset="-120"/>
              </a:rPr>
              <a:t> mỗi chuỗi.</a:t>
            </a:r>
            <a:endParaRPr lang="en-US" sz="1400" dirty="0"/>
          </a:p>
        </p:txBody>
      </p:sp>
      <p:sp>
        <p:nvSpPr>
          <p:cNvPr id="24" name="Text 17"/>
          <p:cNvSpPr/>
          <p:nvPr/>
        </p:nvSpPr>
        <p:spPr>
          <a:xfrm>
            <a:off x="7579360" y="2566671"/>
            <a:ext cx="369407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Cạnh a → b:</a:t>
            </a:r>
            <a:r>
              <a:rPr lang="en-US" sz="1400" dirty="0">
                <a:solidFill>
                  <a:srgbClr val="1B2430"/>
                </a:solidFill>
                <a:latin typeface="IBM Plex Sans" pitchFamily="34" charset="0"/>
                <a:ea typeface="IBM Plex Sans" pitchFamily="34" charset="-122"/>
                <a:cs typeface="IBM Plex Sans" pitchFamily="34" charset="-120"/>
              </a:rPr>
              <a:t> trọng số là overlap(a, b).</a:t>
            </a:r>
            <a:endParaRPr lang="en-US" sz="1400" dirty="0"/>
          </a:p>
        </p:txBody>
      </p:sp>
      <p:sp>
        <p:nvSpPr>
          <p:cNvPr id="25" name="Text 18"/>
          <p:cNvSpPr/>
          <p:nvPr/>
        </p:nvSpPr>
        <p:spPr>
          <a:xfrm>
            <a:off x="7579360" y="2917189"/>
            <a:ext cx="3694074"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Đáp án:</a:t>
            </a:r>
            <a:r>
              <a:rPr lang="en-US" sz="1400" dirty="0">
                <a:solidFill>
                  <a:srgbClr val="1B2430"/>
                </a:solidFill>
                <a:latin typeface="IBM Plex Sans" pitchFamily="34" charset="0"/>
                <a:ea typeface="IBM Plex Sans" pitchFamily="34" charset="-122"/>
                <a:cs typeface="IBM Plex Sans" pitchFamily="34" charset="-120"/>
              </a:rPr>
              <a:t> đường đi Hamilton có tổng trọng số lớn nhất.</a:t>
            </a:r>
            <a:endParaRPr lang="en-US" sz="1400" dirty="0"/>
          </a:p>
        </p:txBody>
      </p:sp>
      <p:sp>
        <p:nvSpPr>
          <p:cNvPr id="26" name="Text 19"/>
          <p:cNvSpPr/>
          <p:nvPr/>
        </p:nvSpPr>
        <p:spPr>
          <a:xfrm>
            <a:off x="7579360" y="3516632"/>
            <a:ext cx="369407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Đường đi Hamilton tốt nhất:</a:t>
            </a:r>
            <a:endParaRPr lang="en-US" sz="1400" dirty="0"/>
          </a:p>
        </p:txBody>
      </p:sp>
      <p:sp>
        <p:nvSpPr>
          <p:cNvPr id="27" name="Text 20"/>
          <p:cNvSpPr/>
          <p:nvPr/>
        </p:nvSpPr>
        <p:spPr>
          <a:xfrm>
            <a:off x="7579360" y="3867150"/>
            <a:ext cx="3694074"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F5FBF"/>
                </a:solidFill>
                <a:latin typeface="JetBrains Mono" pitchFamily="49" charset="0"/>
                <a:ea typeface="JetBrains Mono" pitchFamily="49" charset="-122"/>
                <a:cs typeface="JetBrains Mono" pitchFamily="49" charset="-120"/>
              </a:rPr>
              <a:t>AAA → AAB → ABB → BBB → BBA</a:t>
            </a:r>
            <a:endParaRPr lang="en-US" sz="1200" dirty="0"/>
          </a:p>
        </p:txBody>
      </p:sp>
      <p:sp>
        <p:nvSpPr>
          <p:cNvPr id="28" name="Text 21"/>
          <p:cNvSpPr/>
          <p:nvPr/>
        </p:nvSpPr>
        <p:spPr>
          <a:xfrm>
            <a:off x="7579360" y="4197350"/>
            <a:ext cx="36940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Tổng 2 + 2 + 2 + 2 = 8, nên độ dài là 15 − 8 = </a:t>
            </a:r>
            <a:r>
              <a:rPr lang="en-US" sz="1400" b="1" dirty="0">
                <a:solidFill>
                  <a:srgbClr val="1B2430"/>
                </a:solidFill>
                <a:latin typeface="IBM Plex Sans" pitchFamily="34" charset="0"/>
                <a:ea typeface="IBM Plex Sans" pitchFamily="34" charset="-122"/>
                <a:cs typeface="IBM Plex Sans" pitchFamily="34" charset="-120"/>
              </a:rPr>
              <a:t>7</a:t>
            </a:r>
            <a:r>
              <a:rPr lang="en-US" sz="1400" dirty="0">
                <a:solidFill>
                  <a:srgbClr val="1B2430"/>
                </a:solidFill>
                <a:latin typeface="IBM Plex Sans" pitchFamily="34" charset="0"/>
                <a:ea typeface="IBM Plex Sans" pitchFamily="34" charset="-122"/>
                <a:cs typeface="IBM Plex Sans" pitchFamily="34" charset="-120"/>
              </a:rPr>
              <a:t>.</a:t>
            </a:r>
            <a:endParaRPr lang="en-US" sz="1400" dirty="0"/>
          </a:p>
        </p:txBody>
      </p:sp>
      <p:sp>
        <p:nvSpPr>
          <p:cNvPr id="29" name="Text 22"/>
          <p:cNvSpPr/>
          <p:nvPr/>
        </p:nvSpPr>
        <p:spPr>
          <a:xfrm>
            <a:off x="9226550" y="844550"/>
            <a:ext cx="2146300" cy="322580"/>
          </a:xfrm>
          <a:custGeom>
            <a:avLst/>
            <a:gdLst/>
            <a:ahLst/>
            <a:cxnLst/>
            <a:rect l="l" t="t" r="r" b="b"/>
            <a:pathLst>
              <a:path w="2146300" h="322580">
                <a:moveTo>
                  <a:pt x="161290" y="0"/>
                </a:moveTo>
                <a:lnTo>
                  <a:pt x="1985010" y="0"/>
                </a:lnTo>
                <a:arcTo hR="161290" wR="161290" stAng="16200000" swAng="5400000"/>
                <a:lnTo>
                  <a:pt x="2146300" y="161290"/>
                </a:lnTo>
                <a:arcTo hR="161290" wR="161290" stAng="0" swAng="5400000"/>
                <a:lnTo>
                  <a:pt x="161290" y="322580"/>
                </a:lnTo>
                <a:arcTo hR="161290" wR="161290" stAng="5400000" swAng="5400000"/>
                <a:lnTo>
                  <a:pt x="0" y="161290"/>
                </a:lnTo>
                <a:arcTo hR="161290" wR="161290" stAng="10800000" swAng="5400000"/>
                <a:close/>
              </a:path>
            </a:pathLst>
          </a:custGeom>
          <a:solidFill>
            <a:srgbClr val="E4E9F3"/>
          </a:solidFill>
          <a:ln w="12700">
            <a:solidFill>
              <a:srgbClr val="1F5FBF"/>
            </a:solidFill>
            <a:prstDash val="solid"/>
          </a:ln>
        </p:spPr>
        <p:txBody>
          <a:bodyPr wrap="square" lIns="0" tIns="54610" rIns="0" bIns="29210" rtlCol="0" anchor="t">
            <a:normAutofit/>
          </a:bodyPr>
          <a:lstStyle/>
          <a:p>
            <a:pPr algn="ctr" indent="0" marL="0">
              <a:lnSpc>
                <a:spcPts val="1680"/>
              </a:lnSpc>
              <a:buNone/>
            </a:pPr>
            <a:r>
              <a:rPr lang="en-US" sz="1200" b="1" spc="100" kern="0" dirty="0">
                <a:solidFill>
                  <a:srgbClr val="174A99"/>
                </a:solidFill>
                <a:latin typeface="IBM Plex Sans" pitchFamily="34" charset="0"/>
                <a:ea typeface="IBM Plex Sans" pitchFamily="34" charset="-122"/>
                <a:cs typeface="IBM Plex Sans" pitchFamily="34" charset="-120"/>
              </a:rPr>
              <a:t>MÔ HÌNH · HAMILTON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TƯ TƯỞNG · GREEDY</a:t>
            </a:r>
            <a:endParaRPr lang="en-US" sz="1200" dirty="0"/>
          </a:p>
        </p:txBody>
      </p:sp>
      <p:sp>
        <p:nvSpPr>
          <p:cNvPr id="3" name="Text 1"/>
          <p:cNvSpPr/>
          <p:nvPr>
            <p:ph type="title"/>
          </p:nvPr>
        </p:nvSpPr>
        <p:spPr>
          <a:xfrm>
            <a:off x="812800" y="1076961"/>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430"/>
                </a:solidFill>
                <a:latin typeface="IBM Plex Sans" pitchFamily="34" charset="0"/>
                <a:ea typeface="IBM Plex Sans" pitchFamily="34" charset="-122"/>
                <a:cs typeface="IBM Plex Sans" pitchFamily="34" charset="-120"/>
              </a:rPr>
              <a:t>Mỗi bước lấy cạnh nặng nhất</a:t>
            </a:r>
            <a:endParaRPr lang="en-US" sz="2600" dirty="0"/>
          </a:p>
        </p:txBody>
      </p:sp>
      <p:sp>
        <p:nvSpPr>
          <p:cNvPr id="4" name="Shape 2"/>
          <p:cNvSpPr/>
          <p:nvPr/>
        </p:nvSpPr>
        <p:spPr>
          <a:xfrm>
            <a:off x="819150" y="1666239"/>
            <a:ext cx="3407807" cy="1328420"/>
          </a:xfrm>
          <a:prstGeom prst="roundRect">
            <a:avLst>
              <a:gd name="adj" fmla="val 7170"/>
            </a:avLst>
          </a:prstGeom>
          <a:solidFill>
            <a:srgbClr val="FCFBF7"/>
          </a:solidFill>
          <a:ln w="12700">
            <a:solidFill>
              <a:srgbClr val="DDD9CC"/>
            </a:solidFill>
            <a:prstDash val="solid"/>
          </a:ln>
        </p:spPr>
      </p:sp>
      <p:sp>
        <p:nvSpPr>
          <p:cNvPr id="5" name="Text 3"/>
          <p:cNvSpPr/>
          <p:nvPr/>
        </p:nvSpPr>
        <p:spPr>
          <a:xfrm>
            <a:off x="1026160" y="1847850"/>
            <a:ext cx="30836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460F"/>
                </a:solidFill>
                <a:latin typeface="IBM Plex Sans" pitchFamily="34" charset="0"/>
                <a:ea typeface="IBM Plex Sans" pitchFamily="34" charset="-122"/>
                <a:cs typeface="IBM Plex Sans" pitchFamily="34" charset="-120"/>
              </a:rPr>
              <a:t>1</a:t>
            </a:r>
            <a:endParaRPr lang="en-US" sz="2200" dirty="0"/>
          </a:p>
        </p:txBody>
      </p:sp>
      <p:sp>
        <p:nvSpPr>
          <p:cNvPr id="6" name="Text 4"/>
          <p:cNvSpPr/>
          <p:nvPr/>
        </p:nvSpPr>
        <p:spPr>
          <a:xfrm>
            <a:off x="1026160" y="2315211"/>
            <a:ext cx="3083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Tính overlap của mọi cặp chuỗi.</a:t>
            </a:r>
            <a:endParaRPr lang="en-US" sz="1400" dirty="0"/>
          </a:p>
        </p:txBody>
      </p:sp>
      <p:sp>
        <p:nvSpPr>
          <p:cNvPr id="7" name="Shape 5"/>
          <p:cNvSpPr/>
          <p:nvPr/>
        </p:nvSpPr>
        <p:spPr>
          <a:xfrm>
            <a:off x="4392057" y="1666239"/>
            <a:ext cx="3407807" cy="1328420"/>
          </a:xfrm>
          <a:prstGeom prst="roundRect">
            <a:avLst>
              <a:gd name="adj" fmla="val 7170"/>
            </a:avLst>
          </a:prstGeom>
          <a:solidFill>
            <a:srgbClr val="FCFBF7"/>
          </a:solidFill>
          <a:ln w="12700">
            <a:solidFill>
              <a:srgbClr val="DDD9CC"/>
            </a:solidFill>
            <a:prstDash val="solid"/>
          </a:ln>
        </p:spPr>
      </p:sp>
      <p:sp>
        <p:nvSpPr>
          <p:cNvPr id="8" name="Text 6"/>
          <p:cNvSpPr/>
          <p:nvPr/>
        </p:nvSpPr>
        <p:spPr>
          <a:xfrm>
            <a:off x="4599067" y="1847850"/>
            <a:ext cx="30836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460F"/>
                </a:solidFill>
                <a:latin typeface="IBM Plex Sans" pitchFamily="34" charset="0"/>
                <a:ea typeface="IBM Plex Sans" pitchFamily="34" charset="-122"/>
                <a:cs typeface="IBM Plex Sans" pitchFamily="34" charset="-120"/>
              </a:rPr>
              <a:t>2</a:t>
            </a:r>
            <a:endParaRPr lang="en-US" sz="2200" dirty="0"/>
          </a:p>
        </p:txBody>
      </p:sp>
      <p:sp>
        <p:nvSpPr>
          <p:cNvPr id="9" name="Text 7"/>
          <p:cNvSpPr/>
          <p:nvPr/>
        </p:nvSpPr>
        <p:spPr>
          <a:xfrm>
            <a:off x="4599067" y="2315211"/>
            <a:ext cx="308360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Chọn cặp có overlap lớn nhất. Hoà thì lấy cặp đầu tiên khi quét.</a:t>
            </a:r>
            <a:endParaRPr lang="en-US" sz="1400" dirty="0"/>
          </a:p>
        </p:txBody>
      </p:sp>
      <p:sp>
        <p:nvSpPr>
          <p:cNvPr id="10" name="Shape 8"/>
          <p:cNvSpPr/>
          <p:nvPr/>
        </p:nvSpPr>
        <p:spPr>
          <a:xfrm>
            <a:off x="7964964" y="1666239"/>
            <a:ext cx="3407807" cy="1328420"/>
          </a:xfrm>
          <a:prstGeom prst="roundRect">
            <a:avLst>
              <a:gd name="adj" fmla="val 7170"/>
            </a:avLst>
          </a:prstGeom>
          <a:solidFill>
            <a:srgbClr val="FCFBF7"/>
          </a:solidFill>
          <a:ln w="12700">
            <a:solidFill>
              <a:srgbClr val="DDD9CC"/>
            </a:solidFill>
            <a:prstDash val="solid"/>
          </a:ln>
        </p:spPr>
      </p:sp>
      <p:sp>
        <p:nvSpPr>
          <p:cNvPr id="11" name="Text 9"/>
          <p:cNvSpPr/>
          <p:nvPr/>
        </p:nvSpPr>
        <p:spPr>
          <a:xfrm>
            <a:off x="8171974" y="1847850"/>
            <a:ext cx="30836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8460F"/>
                </a:solidFill>
                <a:latin typeface="IBM Plex Sans" pitchFamily="34" charset="0"/>
                <a:ea typeface="IBM Plex Sans" pitchFamily="34" charset="-122"/>
                <a:cs typeface="IBM Plex Sans" pitchFamily="34" charset="-120"/>
              </a:rPr>
              <a:t>3</a:t>
            </a:r>
            <a:endParaRPr lang="en-US" sz="2200" dirty="0"/>
          </a:p>
        </p:txBody>
      </p:sp>
      <p:sp>
        <p:nvSpPr>
          <p:cNvPr id="12" name="Text 10"/>
          <p:cNvSpPr/>
          <p:nvPr/>
        </p:nvSpPr>
        <p:spPr>
          <a:xfrm>
            <a:off x="8171974" y="2315211"/>
            <a:ext cx="308360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Gộp hai chuỗi thành một, lặp lại cho đến khi còn một chuỗi (n − 1 vòng).</a:t>
            </a:r>
            <a:endParaRPr lang="en-US" sz="1400" dirty="0"/>
          </a:p>
        </p:txBody>
      </p:sp>
      <p:sp>
        <p:nvSpPr>
          <p:cNvPr id="13" name="Shape 11"/>
          <p:cNvSpPr/>
          <p:nvPr/>
        </p:nvSpPr>
        <p:spPr>
          <a:xfrm>
            <a:off x="819150" y="3210561"/>
            <a:ext cx="5194300" cy="1181100"/>
          </a:xfrm>
          <a:prstGeom prst="roundRect">
            <a:avLst>
              <a:gd name="adj" fmla="val 8065"/>
            </a:avLst>
          </a:prstGeom>
          <a:solidFill>
            <a:srgbClr val="FCFBF7"/>
          </a:solidFill>
          <a:ln w="12700">
            <a:solidFill>
              <a:srgbClr val="DDD9CC"/>
            </a:solidFill>
            <a:prstDash val="solid"/>
          </a:ln>
        </p:spPr>
      </p:sp>
      <p:sp>
        <p:nvSpPr>
          <p:cNvPr id="14" name="Text 12"/>
          <p:cNvSpPr/>
          <p:nvPr/>
        </p:nvSpPr>
        <p:spPr>
          <a:xfrm>
            <a:off x="1026160" y="3392171"/>
            <a:ext cx="492368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IBM Plex Sans" pitchFamily="34" charset="0"/>
                <a:ea typeface="IBM Plex Sans" pitchFamily="34" charset="-122"/>
                <a:cs typeface="IBM Plex Sans" pitchFamily="34" charset="-120"/>
              </a:rPr>
              <a:t>Vì sao hợp lý</a:t>
            </a:r>
            <a:endParaRPr lang="en-US" sz="1600" dirty="0"/>
          </a:p>
        </p:txBody>
      </p:sp>
      <p:sp>
        <p:nvSpPr>
          <p:cNvPr id="15" name="Text 13"/>
          <p:cNvSpPr/>
          <p:nvPr/>
        </p:nvSpPr>
        <p:spPr>
          <a:xfrm>
            <a:off x="1026160" y="3712211"/>
            <a:ext cx="492368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Cạnh nặng nhất tiết kiệm được nhiều ký tự nhất ngay lúc này. Trên đồ thị: chọn cạnh nặng nhất, gộp hai đỉnh.</a:t>
            </a:r>
            <a:endParaRPr lang="en-US" sz="1400" dirty="0"/>
          </a:p>
        </p:txBody>
      </p:sp>
      <p:sp>
        <p:nvSpPr>
          <p:cNvPr id="16" name="Shape 14"/>
          <p:cNvSpPr/>
          <p:nvPr/>
        </p:nvSpPr>
        <p:spPr>
          <a:xfrm>
            <a:off x="6178550" y="3210561"/>
            <a:ext cx="5194300" cy="1181100"/>
          </a:xfrm>
          <a:prstGeom prst="roundRect">
            <a:avLst>
              <a:gd name="adj" fmla="val 8065"/>
            </a:avLst>
          </a:prstGeom>
          <a:solidFill>
            <a:srgbClr val="FCFBF7"/>
          </a:solidFill>
          <a:ln w="12700">
            <a:solidFill>
              <a:srgbClr val="B8460F"/>
            </a:solidFill>
            <a:prstDash val="solid"/>
          </a:ln>
        </p:spPr>
      </p:sp>
      <p:sp>
        <p:nvSpPr>
          <p:cNvPr id="17" name="Text 15"/>
          <p:cNvSpPr/>
          <p:nvPr/>
        </p:nvSpPr>
        <p:spPr>
          <a:xfrm>
            <a:off x="6385560" y="3392171"/>
            <a:ext cx="492368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F3508"/>
                </a:solidFill>
                <a:latin typeface="IBM Plex Sans" pitchFamily="34" charset="0"/>
                <a:ea typeface="IBM Plex Sans" pitchFamily="34" charset="-122"/>
                <a:cs typeface="IBM Plex Sans" pitchFamily="34" charset="-120"/>
              </a:rPr>
              <a:t>Vì sao có thể sai</a:t>
            </a:r>
            <a:endParaRPr lang="en-US" sz="1600" dirty="0"/>
          </a:p>
        </p:txBody>
      </p:sp>
      <p:sp>
        <p:nvSpPr>
          <p:cNvPr id="18" name="Text 16"/>
          <p:cNvSpPr/>
          <p:nvPr/>
        </p:nvSpPr>
        <p:spPr>
          <a:xfrm>
            <a:off x="6385560" y="3712211"/>
            <a:ext cx="492368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Chỉ nhìn lợi ích trước mắt, không nhìn trước hậu quả. Chọn nhầm cạnh có thể làm một chuỗi bị cô lập.</a:t>
            </a:r>
            <a:endParaRPr lang="en-US" sz="1400" dirty="0"/>
          </a:p>
        </p:txBody>
      </p:sp>
      <p:sp>
        <p:nvSpPr>
          <p:cNvPr id="19" name="Text 17"/>
          <p:cNvSpPr/>
          <p:nvPr/>
        </p:nvSpPr>
        <p:spPr>
          <a:xfrm>
            <a:off x="9226550" y="844550"/>
            <a:ext cx="2146300" cy="322580"/>
          </a:xfrm>
          <a:custGeom>
            <a:avLst/>
            <a:gdLst/>
            <a:ahLst/>
            <a:cxnLst/>
            <a:rect l="l" t="t" r="r" b="b"/>
            <a:pathLst>
              <a:path w="2146300" h="322580">
                <a:moveTo>
                  <a:pt x="161290" y="0"/>
                </a:moveTo>
                <a:lnTo>
                  <a:pt x="1985010" y="0"/>
                </a:lnTo>
                <a:arcTo hR="161290" wR="161290" stAng="16200000" swAng="5400000"/>
                <a:lnTo>
                  <a:pt x="2146300" y="161290"/>
                </a:lnTo>
                <a:arcTo hR="161290" wR="161290" stAng="0" swAng="5400000"/>
                <a:lnTo>
                  <a:pt x="161290" y="322580"/>
                </a:lnTo>
                <a:arcTo hR="161290" wR="161290" stAng="5400000" swAng="5400000"/>
                <a:lnTo>
                  <a:pt x="0" y="161290"/>
                </a:lnTo>
                <a:arcTo hR="161290" wR="161290" stAng="10800000" swAng="5400000"/>
                <a:close/>
              </a:path>
            </a:pathLst>
          </a:custGeom>
          <a:solidFill>
            <a:srgbClr val="FBE3D3"/>
          </a:solidFill>
          <a:ln w="12700">
            <a:solidFill>
              <a:srgbClr val="B8460F"/>
            </a:solidFill>
            <a:prstDash val="solid"/>
          </a:ln>
        </p:spPr>
        <p:txBody>
          <a:bodyPr wrap="square" lIns="0" tIns="54610" rIns="0" bIns="29210" rtlCol="0" anchor="t">
            <a:normAutofit/>
          </a:bodyPr>
          <a:lstStyle/>
          <a:p>
            <a:pPr algn="ctr" indent="0" marL="0">
              <a:lnSpc>
                <a:spcPts val="1680"/>
              </a:lnSpc>
              <a:buNone/>
            </a:pPr>
            <a:r>
              <a:rPr lang="en-US" sz="1200" b="1" spc="100" kern="0" dirty="0">
                <a:solidFill>
                  <a:srgbClr val="8F3508"/>
                </a:solidFill>
                <a:latin typeface="IBM Plex Sans" pitchFamily="34" charset="0"/>
                <a:ea typeface="IBM Plex Sans" pitchFamily="34" charset="-122"/>
                <a:cs typeface="IBM Plex Sans" pitchFamily="34" charset="-120"/>
              </a:rPr>
              <a:t>CÁCH GIẢI · GREEDY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VÍ DỤ · VÒNG 1 TRÊN 4</a:t>
            </a:r>
            <a:endParaRPr lang="en-US" sz="1200" dirty="0"/>
          </a:p>
        </p:txBody>
      </p:sp>
      <p:sp>
        <p:nvSpPr>
          <p:cNvPr id="3" name="Text 1"/>
          <p:cNvSpPr/>
          <p:nvPr>
            <p:ph type="title"/>
          </p:nvPr>
        </p:nvSpPr>
        <p:spPr>
          <a:xfrm>
            <a:off x="812800" y="1076961"/>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430"/>
                </a:solidFill>
                <a:latin typeface="IBM Plex Sans" pitchFamily="34" charset="0"/>
                <a:ea typeface="IBM Plex Sans" pitchFamily="34" charset="-122"/>
                <a:cs typeface="IBM Plex Sans" pitchFamily="34" charset="-120"/>
              </a:rPr>
              <a:t>Gộp AAA với AAB</a:t>
            </a:r>
            <a:endParaRPr lang="en-US" sz="2600" dirty="0"/>
          </a:p>
        </p:txBody>
      </p:sp>
      <p:sp>
        <p:nvSpPr>
          <p:cNvPr id="4" name="Text 2"/>
          <p:cNvSpPr/>
          <p:nvPr/>
        </p:nvSpPr>
        <p:spPr>
          <a:xfrm>
            <a:off x="812800" y="1657350"/>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Danh sách hiện tại (arr)</a:t>
            </a:r>
            <a:endParaRPr lang="en-US" sz="1200" dirty="0"/>
          </a:p>
        </p:txBody>
      </p:sp>
      <p:sp>
        <p:nvSpPr>
          <p:cNvPr id="5" name="Text 3"/>
          <p:cNvSpPr/>
          <p:nvPr/>
        </p:nvSpPr>
        <p:spPr>
          <a:xfrm>
            <a:off x="819150" y="1953261"/>
            <a:ext cx="678180" cy="419100"/>
          </a:xfrm>
          <a:prstGeom prst="roundRect">
            <a:avLst>
              <a:gd name="adj" fmla="val 16667"/>
            </a:avLst>
          </a:prstGeom>
          <a:solidFill>
            <a:srgbClr val="FBE3D3"/>
          </a:solidFill>
          <a:ln w="12700">
            <a:solidFill>
              <a:srgbClr val="B8460F"/>
            </a:solidFill>
            <a:prstDash val="solid"/>
          </a:ln>
        </p:spPr>
        <p:txBody>
          <a:bodyPr wrap="none" lIns="0" tIns="0" rIns="0" bIns="0" rtlCol="0" anchor="ctr">
            <a:normAutofit/>
          </a:bodyPr>
          <a:lstStyle/>
          <a:p>
            <a:pPr algn="ctr" indent="0" marL="0">
              <a:lnSpc>
                <a:spcPts val="2240"/>
              </a:lnSpc>
              <a:buNone/>
            </a:pPr>
            <a:r>
              <a:rPr lang="en-US" sz="1600" b="1" dirty="0">
                <a:solidFill>
                  <a:srgbClr val="8F3508"/>
                </a:solidFill>
                <a:latin typeface="JetBrains Mono" pitchFamily="49" charset="0"/>
                <a:ea typeface="JetBrains Mono" pitchFamily="49" charset="-122"/>
                <a:cs typeface="JetBrains Mono" pitchFamily="49" charset="-120"/>
              </a:rPr>
              <a:t>AAA</a:t>
            </a:r>
            <a:endParaRPr lang="en-US" sz="1600" dirty="0"/>
          </a:p>
        </p:txBody>
      </p:sp>
      <p:sp>
        <p:nvSpPr>
          <p:cNvPr id="6" name="Text 4"/>
          <p:cNvSpPr/>
          <p:nvPr/>
        </p:nvSpPr>
        <p:spPr>
          <a:xfrm>
            <a:off x="1611630" y="1953261"/>
            <a:ext cx="678180" cy="419100"/>
          </a:xfrm>
          <a:prstGeom prst="roundRect">
            <a:avLst>
              <a:gd name="adj" fmla="val 16667"/>
            </a:avLst>
          </a:prstGeom>
          <a:solidFill>
            <a:srgbClr val="FBE3D3"/>
          </a:solidFill>
          <a:ln w="12700">
            <a:solidFill>
              <a:srgbClr val="B8460F"/>
            </a:solidFill>
            <a:prstDash val="solid"/>
          </a:ln>
        </p:spPr>
        <p:txBody>
          <a:bodyPr wrap="none" lIns="0" tIns="0" rIns="0" bIns="0" rtlCol="0" anchor="ctr">
            <a:normAutofit/>
          </a:bodyPr>
          <a:lstStyle/>
          <a:p>
            <a:pPr algn="ctr" indent="0" marL="0">
              <a:lnSpc>
                <a:spcPts val="2240"/>
              </a:lnSpc>
              <a:buNone/>
            </a:pPr>
            <a:r>
              <a:rPr lang="en-US" sz="1600" b="1" dirty="0">
                <a:solidFill>
                  <a:srgbClr val="8F3508"/>
                </a:solidFill>
                <a:latin typeface="JetBrains Mono" pitchFamily="49" charset="0"/>
                <a:ea typeface="JetBrains Mono" pitchFamily="49" charset="-122"/>
                <a:cs typeface="JetBrains Mono" pitchFamily="49" charset="-120"/>
              </a:rPr>
              <a:t>AAB</a:t>
            </a:r>
            <a:endParaRPr lang="en-US" sz="1600" dirty="0"/>
          </a:p>
        </p:txBody>
      </p:sp>
      <p:sp>
        <p:nvSpPr>
          <p:cNvPr id="7" name="Text 5"/>
          <p:cNvSpPr/>
          <p:nvPr/>
        </p:nvSpPr>
        <p:spPr>
          <a:xfrm>
            <a:off x="2404110" y="1953261"/>
            <a:ext cx="67818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ABB</a:t>
            </a:r>
            <a:endParaRPr lang="en-US" sz="1600" dirty="0"/>
          </a:p>
        </p:txBody>
      </p:sp>
      <p:sp>
        <p:nvSpPr>
          <p:cNvPr id="8" name="Text 6"/>
          <p:cNvSpPr/>
          <p:nvPr/>
        </p:nvSpPr>
        <p:spPr>
          <a:xfrm>
            <a:off x="3196590" y="1953261"/>
            <a:ext cx="67818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BBB</a:t>
            </a:r>
            <a:endParaRPr lang="en-US" sz="1600" dirty="0"/>
          </a:p>
        </p:txBody>
      </p:sp>
      <p:sp>
        <p:nvSpPr>
          <p:cNvPr id="9" name="Text 7"/>
          <p:cNvSpPr/>
          <p:nvPr/>
        </p:nvSpPr>
        <p:spPr>
          <a:xfrm>
            <a:off x="3989070" y="1953261"/>
            <a:ext cx="67818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BBA</a:t>
            </a:r>
            <a:endParaRPr lang="en-US" sz="1600" dirty="0"/>
          </a:p>
        </p:txBody>
      </p:sp>
      <p:sp>
        <p:nvSpPr>
          <p:cNvPr id="10" name="Text 8"/>
          <p:cNvSpPr/>
          <p:nvPr/>
        </p:nvSpPr>
        <p:spPr>
          <a:xfrm>
            <a:off x="812800" y="245491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Bảng overlap (hàng a, cột b)</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2960" y="2754631"/>
          <a:ext cx="6339840" cy="2301240"/>
        </p:xfrm>
        <a:graphic>
          <a:graphicData uri="http://schemas.openxmlformats.org/drawingml/2006/table">
            <a:tbl>
              <a:tblPr/>
              <a:tblGrid>
                <a:gridCol w="1267968"/>
                <a:gridCol w="1014374"/>
                <a:gridCol w="1014374"/>
                <a:gridCol w="1014374"/>
                <a:gridCol w="1014374"/>
                <a:gridCol w="1014374"/>
              </a:tblGrid>
              <a:tr h="383540">
                <a:tc>
                  <a:txBody>
                    <a:bodyPr/>
                    <a:lstStyle/>
                    <a:p>
                      <a:pPr indent="0" marL="0">
                        <a:lnSpc>
                          <a:spcPts val="1960"/>
                        </a:lnSpc>
                        <a:buNone/>
                      </a:pP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AAA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AAB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BBB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BBA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AAA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AAB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BBB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BBA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12" name="Shape 9"/>
          <p:cNvSpPr/>
          <p:nvPr/>
        </p:nvSpPr>
        <p:spPr>
          <a:xfrm>
            <a:off x="7473950" y="1663700"/>
            <a:ext cx="3898900" cy="2776220"/>
          </a:xfrm>
          <a:prstGeom prst="roundRect">
            <a:avLst>
              <a:gd name="adj" fmla="val 3431"/>
            </a:avLst>
          </a:prstGeom>
          <a:solidFill>
            <a:srgbClr val="FCFBF7"/>
          </a:solidFill>
          <a:ln w="12700">
            <a:solidFill>
              <a:srgbClr val="DDD9CC"/>
            </a:solidFill>
            <a:prstDash val="solid"/>
          </a:ln>
        </p:spPr>
      </p:sp>
      <p:sp>
        <p:nvSpPr>
          <p:cNvPr id="13" name="Text 10"/>
          <p:cNvSpPr/>
          <p:nvPr/>
        </p:nvSpPr>
        <p:spPr>
          <a:xfrm>
            <a:off x="7680960" y="1870711"/>
            <a:ext cx="358942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IBM Plex Sans" pitchFamily="34" charset="0"/>
                <a:ea typeface="IBM Plex Sans" pitchFamily="34" charset="-122"/>
                <a:cs typeface="IBM Plex Sans" pitchFamily="34" charset="-120"/>
              </a:rPr>
              <a:t>Chọn cặp</a:t>
            </a:r>
            <a:endParaRPr lang="en-US" sz="1600" dirty="0"/>
          </a:p>
        </p:txBody>
      </p:sp>
      <p:sp>
        <p:nvSpPr>
          <p:cNvPr id="14" name="Text 11"/>
          <p:cNvSpPr/>
          <p:nvPr/>
        </p:nvSpPr>
        <p:spPr>
          <a:xfrm>
            <a:off x="7680960" y="2216150"/>
            <a:ext cx="358942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Năm cặp cùng overlap 2. Quy ước 3: lấy cặp đầu tiên khi quét.</a:t>
            </a:r>
            <a:endParaRPr lang="en-US" sz="1400" dirty="0"/>
          </a:p>
        </p:txBody>
      </p:sp>
      <p:sp>
        <p:nvSpPr>
          <p:cNvPr id="15" name="Text 12"/>
          <p:cNvSpPr/>
          <p:nvPr/>
        </p:nvSpPr>
        <p:spPr>
          <a:xfrm>
            <a:off x="7680960" y="2815589"/>
            <a:ext cx="3484880" cy="401320"/>
          </a:xfrm>
          <a:prstGeom prst="roundRect">
            <a:avLst>
              <a:gd name="adj" fmla="val 18987"/>
            </a:avLst>
          </a:prstGeom>
          <a:solidFill>
            <a:srgbClr val="FBE3D3"/>
          </a:solidFill>
          <a:ln/>
        </p:spPr>
        <p:txBody>
          <a:bodyPr wrap="square" lIns="104682" tIns="53882" rIns="7755" bIns="28482" rtlCol="0" anchor="t">
            <a:normAutofit/>
          </a:bodyPr>
          <a:lstStyle/>
          <a:p>
            <a:pPr algn="l" indent="0" marL="0">
              <a:lnSpc>
                <a:spcPts val="1960"/>
              </a:lnSpc>
              <a:buNone/>
            </a:pPr>
            <a:r>
              <a:rPr lang="en-US" sz="1400" b="1" dirty="0">
                <a:solidFill>
                  <a:srgbClr val="8F3508"/>
                </a:solidFill>
                <a:latin typeface="JetBrains Mono" pitchFamily="49" charset="0"/>
                <a:ea typeface="JetBrains Mono" pitchFamily="49" charset="-122"/>
                <a:cs typeface="JetBrains Mono" pitchFamily="49" charset="-120"/>
              </a:rPr>
              <a:t>AAA + AAB → AAAB</a:t>
            </a:r>
            <a:endParaRPr lang="en-US" sz="1400" dirty="0"/>
          </a:p>
        </p:txBody>
      </p:sp>
      <p:sp>
        <p:nvSpPr>
          <p:cNvPr id="16" name="Text 13"/>
          <p:cNvSpPr/>
          <p:nvPr/>
        </p:nvSpPr>
        <p:spPr>
          <a:xfrm>
            <a:off x="7680960" y="3318511"/>
            <a:ext cx="358942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Chuỗi cuối (BBA) lấp vào chỗ AAB:</a:t>
            </a:r>
            <a:endParaRPr lang="en-US" sz="1400" dirty="0"/>
          </a:p>
        </p:txBody>
      </p:sp>
      <p:sp>
        <p:nvSpPr>
          <p:cNvPr id="17" name="Text 14"/>
          <p:cNvSpPr/>
          <p:nvPr/>
        </p:nvSpPr>
        <p:spPr>
          <a:xfrm>
            <a:off x="7680960" y="3669032"/>
            <a:ext cx="35894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AAAB, BBA, ABB, BBB</a:t>
            </a:r>
            <a:endParaRPr lang="en-US" sz="1400" dirty="0"/>
          </a:p>
        </p:txBody>
      </p:sp>
      <p:sp>
        <p:nvSpPr>
          <p:cNvPr id="18" name="Text 15"/>
          <p:cNvSpPr/>
          <p:nvPr/>
        </p:nvSpPr>
        <p:spPr>
          <a:xfrm>
            <a:off x="7680960" y="4019550"/>
            <a:ext cx="35894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Tiết kiệm được 2 ký tự.</a:t>
            </a:r>
            <a:endParaRPr lang="en-US" sz="1200" dirty="0"/>
          </a:p>
        </p:txBody>
      </p:sp>
      <p:sp>
        <p:nvSpPr>
          <p:cNvPr id="19" name="Text 16"/>
          <p:cNvSpPr/>
          <p:nvPr/>
        </p:nvSpPr>
        <p:spPr>
          <a:xfrm>
            <a:off x="9226550" y="844550"/>
            <a:ext cx="2146300" cy="322580"/>
          </a:xfrm>
          <a:custGeom>
            <a:avLst/>
            <a:gdLst/>
            <a:ahLst/>
            <a:cxnLst/>
            <a:rect l="l" t="t" r="r" b="b"/>
            <a:pathLst>
              <a:path w="2146300" h="322580">
                <a:moveTo>
                  <a:pt x="161290" y="0"/>
                </a:moveTo>
                <a:lnTo>
                  <a:pt x="1985010" y="0"/>
                </a:lnTo>
                <a:arcTo hR="161290" wR="161290" stAng="16200000" swAng="5400000"/>
                <a:lnTo>
                  <a:pt x="2146300" y="161290"/>
                </a:lnTo>
                <a:arcTo hR="161290" wR="161290" stAng="0" swAng="5400000"/>
                <a:lnTo>
                  <a:pt x="161290" y="322580"/>
                </a:lnTo>
                <a:arcTo hR="161290" wR="161290" stAng="5400000" swAng="5400000"/>
                <a:lnTo>
                  <a:pt x="0" y="161290"/>
                </a:lnTo>
                <a:arcTo hR="161290" wR="161290" stAng="10800000" swAng="5400000"/>
                <a:close/>
              </a:path>
            </a:pathLst>
          </a:custGeom>
          <a:solidFill>
            <a:srgbClr val="FBE3D3"/>
          </a:solidFill>
          <a:ln w="12700">
            <a:solidFill>
              <a:srgbClr val="B8460F"/>
            </a:solidFill>
            <a:prstDash val="solid"/>
          </a:ln>
        </p:spPr>
        <p:txBody>
          <a:bodyPr wrap="square" lIns="0" tIns="54610" rIns="0" bIns="29210" rtlCol="0" anchor="t">
            <a:normAutofit/>
          </a:bodyPr>
          <a:lstStyle/>
          <a:p>
            <a:pPr algn="ctr" indent="0" marL="0">
              <a:lnSpc>
                <a:spcPts val="1680"/>
              </a:lnSpc>
              <a:buNone/>
            </a:pPr>
            <a:r>
              <a:rPr lang="en-US" sz="1200" b="1" spc="100" kern="0" dirty="0">
                <a:solidFill>
                  <a:srgbClr val="8F3508"/>
                </a:solidFill>
                <a:latin typeface="IBM Plex Sans" pitchFamily="34" charset="0"/>
                <a:ea typeface="IBM Plex Sans" pitchFamily="34" charset="-122"/>
                <a:cs typeface="IBM Plex Sans" pitchFamily="34" charset="-120"/>
              </a:rPr>
              <a:t>CÁCH GIẢI · GREEDY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VÍ DỤ · VÒNG 2 TRÊN 4</a:t>
            </a:r>
            <a:endParaRPr lang="en-US" sz="1200" dirty="0"/>
          </a:p>
        </p:txBody>
      </p:sp>
      <p:sp>
        <p:nvSpPr>
          <p:cNvPr id="3" name="Text 1"/>
          <p:cNvSpPr/>
          <p:nvPr>
            <p:ph type="title"/>
          </p:nvPr>
        </p:nvSpPr>
        <p:spPr>
          <a:xfrm>
            <a:off x="812800" y="1076961"/>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430"/>
                </a:solidFill>
                <a:latin typeface="IBM Plex Sans" pitchFamily="34" charset="0"/>
                <a:ea typeface="IBM Plex Sans" pitchFamily="34" charset="-122"/>
                <a:cs typeface="IBM Plex Sans" pitchFamily="34" charset="-120"/>
              </a:rPr>
              <a:t>Gộp AAAB với ABB</a:t>
            </a:r>
            <a:endParaRPr lang="en-US" sz="2600" dirty="0"/>
          </a:p>
        </p:txBody>
      </p:sp>
      <p:sp>
        <p:nvSpPr>
          <p:cNvPr id="4" name="Text 2"/>
          <p:cNvSpPr/>
          <p:nvPr/>
        </p:nvSpPr>
        <p:spPr>
          <a:xfrm>
            <a:off x="812800" y="165988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Danh sách hiện tại (arr)</a:t>
            </a:r>
            <a:endParaRPr lang="en-US" sz="1200" dirty="0"/>
          </a:p>
        </p:txBody>
      </p:sp>
      <p:sp>
        <p:nvSpPr>
          <p:cNvPr id="5" name="Text 3"/>
          <p:cNvSpPr/>
          <p:nvPr/>
        </p:nvSpPr>
        <p:spPr>
          <a:xfrm>
            <a:off x="819150" y="1955800"/>
            <a:ext cx="800100" cy="419100"/>
          </a:xfrm>
          <a:prstGeom prst="roundRect">
            <a:avLst>
              <a:gd name="adj" fmla="val 16667"/>
            </a:avLst>
          </a:prstGeom>
          <a:solidFill>
            <a:srgbClr val="FBE3D3"/>
          </a:solidFill>
          <a:ln w="12700">
            <a:solidFill>
              <a:srgbClr val="B8460F"/>
            </a:solidFill>
            <a:prstDash val="solid"/>
          </a:ln>
        </p:spPr>
        <p:txBody>
          <a:bodyPr wrap="none" lIns="0" tIns="0" rIns="0" bIns="0" rtlCol="0" anchor="ctr">
            <a:normAutofit/>
          </a:bodyPr>
          <a:lstStyle/>
          <a:p>
            <a:pPr algn="ctr" indent="0" marL="0">
              <a:lnSpc>
                <a:spcPts val="2240"/>
              </a:lnSpc>
              <a:buNone/>
            </a:pPr>
            <a:r>
              <a:rPr lang="en-US" sz="1600" b="1" dirty="0">
                <a:solidFill>
                  <a:srgbClr val="8F3508"/>
                </a:solidFill>
                <a:latin typeface="JetBrains Mono" pitchFamily="49" charset="0"/>
                <a:ea typeface="JetBrains Mono" pitchFamily="49" charset="-122"/>
                <a:cs typeface="JetBrains Mono" pitchFamily="49" charset="-120"/>
              </a:rPr>
              <a:t>AAAB</a:t>
            </a:r>
            <a:endParaRPr lang="en-US" sz="1600" dirty="0"/>
          </a:p>
        </p:txBody>
      </p:sp>
      <p:sp>
        <p:nvSpPr>
          <p:cNvPr id="6" name="Text 4"/>
          <p:cNvSpPr/>
          <p:nvPr/>
        </p:nvSpPr>
        <p:spPr>
          <a:xfrm>
            <a:off x="1733550" y="1955800"/>
            <a:ext cx="67818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BBA</a:t>
            </a:r>
            <a:endParaRPr lang="en-US" sz="1600" dirty="0"/>
          </a:p>
        </p:txBody>
      </p:sp>
      <p:sp>
        <p:nvSpPr>
          <p:cNvPr id="7" name="Text 5"/>
          <p:cNvSpPr/>
          <p:nvPr/>
        </p:nvSpPr>
        <p:spPr>
          <a:xfrm>
            <a:off x="2526030" y="1955800"/>
            <a:ext cx="678180" cy="419100"/>
          </a:xfrm>
          <a:prstGeom prst="roundRect">
            <a:avLst>
              <a:gd name="adj" fmla="val 16667"/>
            </a:avLst>
          </a:prstGeom>
          <a:solidFill>
            <a:srgbClr val="FBE3D3"/>
          </a:solidFill>
          <a:ln w="12700">
            <a:solidFill>
              <a:srgbClr val="B8460F"/>
            </a:solidFill>
            <a:prstDash val="solid"/>
          </a:ln>
        </p:spPr>
        <p:txBody>
          <a:bodyPr wrap="none" lIns="0" tIns="0" rIns="0" bIns="0" rtlCol="0" anchor="ctr">
            <a:normAutofit/>
          </a:bodyPr>
          <a:lstStyle/>
          <a:p>
            <a:pPr algn="ctr" indent="0" marL="0">
              <a:lnSpc>
                <a:spcPts val="2240"/>
              </a:lnSpc>
              <a:buNone/>
            </a:pPr>
            <a:r>
              <a:rPr lang="en-US" sz="1600" b="1" dirty="0">
                <a:solidFill>
                  <a:srgbClr val="8F3508"/>
                </a:solidFill>
                <a:latin typeface="JetBrains Mono" pitchFamily="49" charset="0"/>
                <a:ea typeface="JetBrains Mono" pitchFamily="49" charset="-122"/>
                <a:cs typeface="JetBrains Mono" pitchFamily="49" charset="-120"/>
              </a:rPr>
              <a:t>ABB</a:t>
            </a:r>
            <a:endParaRPr lang="en-US" sz="1600" dirty="0"/>
          </a:p>
        </p:txBody>
      </p:sp>
      <p:sp>
        <p:nvSpPr>
          <p:cNvPr id="8" name="Text 6"/>
          <p:cNvSpPr/>
          <p:nvPr/>
        </p:nvSpPr>
        <p:spPr>
          <a:xfrm>
            <a:off x="3318510" y="1955800"/>
            <a:ext cx="67818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BBB</a:t>
            </a:r>
            <a:endParaRPr lang="en-US" sz="1600" dirty="0"/>
          </a:p>
        </p:txBody>
      </p:sp>
      <p:sp>
        <p:nvSpPr>
          <p:cNvPr id="9" name="Text 7"/>
          <p:cNvSpPr/>
          <p:nvPr/>
        </p:nvSpPr>
        <p:spPr>
          <a:xfrm>
            <a:off x="812800" y="2457450"/>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Bảng overlap (hàng a, cột b)</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 y="2757171"/>
          <a:ext cx="6339840" cy="1917700"/>
        </p:xfrm>
        <a:graphic>
          <a:graphicData uri="http://schemas.openxmlformats.org/drawingml/2006/table">
            <a:tbl>
              <a:tblPr/>
              <a:tblGrid>
                <a:gridCol w="1521562"/>
                <a:gridCol w="1204570"/>
                <a:gridCol w="1204570"/>
                <a:gridCol w="1204570"/>
                <a:gridCol w="1204570"/>
              </a:tblGrid>
              <a:tr h="383540">
                <a:tc>
                  <a:txBody>
                    <a:bodyPr/>
                    <a:lstStyle/>
                    <a:p>
                      <a:pPr indent="0" marL="0">
                        <a:lnSpc>
                          <a:spcPts val="1960"/>
                        </a:lnSpc>
                        <a:buNone/>
                      </a:pP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AAAB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BBA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BBB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AAAB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BBA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BBB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11" name="Shape 8"/>
          <p:cNvSpPr/>
          <p:nvPr/>
        </p:nvSpPr>
        <p:spPr>
          <a:xfrm>
            <a:off x="7473950" y="1666239"/>
            <a:ext cx="3898900" cy="2776220"/>
          </a:xfrm>
          <a:prstGeom prst="roundRect">
            <a:avLst>
              <a:gd name="adj" fmla="val 3431"/>
            </a:avLst>
          </a:prstGeom>
          <a:solidFill>
            <a:srgbClr val="FCFBF7"/>
          </a:solidFill>
          <a:ln w="12700">
            <a:solidFill>
              <a:srgbClr val="DDD9CC"/>
            </a:solidFill>
            <a:prstDash val="solid"/>
          </a:ln>
        </p:spPr>
      </p:sp>
      <p:sp>
        <p:nvSpPr>
          <p:cNvPr id="12" name="Text 9"/>
          <p:cNvSpPr/>
          <p:nvPr/>
        </p:nvSpPr>
        <p:spPr>
          <a:xfrm>
            <a:off x="7680960" y="1873250"/>
            <a:ext cx="358942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IBM Plex Sans" pitchFamily="34" charset="0"/>
                <a:ea typeface="IBM Plex Sans" pitchFamily="34" charset="-122"/>
                <a:cs typeface="IBM Plex Sans" pitchFamily="34" charset="-120"/>
              </a:rPr>
              <a:t>Chọn cặp</a:t>
            </a:r>
            <a:endParaRPr lang="en-US" sz="1600" dirty="0"/>
          </a:p>
        </p:txBody>
      </p:sp>
      <p:sp>
        <p:nvSpPr>
          <p:cNvPr id="13" name="Text 10"/>
          <p:cNvSpPr/>
          <p:nvPr/>
        </p:nvSpPr>
        <p:spPr>
          <a:xfrm>
            <a:off x="7680960" y="2218689"/>
            <a:ext cx="358942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Bốn cặp cùng overlap 2, lấy cặp đầu tiên tiếp theo khi quét là AAAB và ABB.</a:t>
            </a:r>
            <a:endParaRPr lang="en-US" sz="1400" dirty="0"/>
          </a:p>
        </p:txBody>
      </p:sp>
      <p:sp>
        <p:nvSpPr>
          <p:cNvPr id="14" name="Text 11"/>
          <p:cNvSpPr/>
          <p:nvPr/>
        </p:nvSpPr>
        <p:spPr>
          <a:xfrm>
            <a:off x="7680960" y="2818132"/>
            <a:ext cx="3484880" cy="401320"/>
          </a:xfrm>
          <a:prstGeom prst="roundRect">
            <a:avLst>
              <a:gd name="adj" fmla="val 18987"/>
            </a:avLst>
          </a:prstGeom>
          <a:solidFill>
            <a:srgbClr val="FBE3D3"/>
          </a:solidFill>
          <a:ln/>
        </p:spPr>
        <p:txBody>
          <a:bodyPr wrap="square" lIns="104682" tIns="53882" rIns="7755" bIns="28482" rtlCol="0" anchor="t">
            <a:normAutofit/>
          </a:bodyPr>
          <a:lstStyle/>
          <a:p>
            <a:pPr algn="l" indent="0" marL="0">
              <a:lnSpc>
                <a:spcPts val="1960"/>
              </a:lnSpc>
              <a:buNone/>
            </a:pPr>
            <a:r>
              <a:rPr lang="en-US" sz="1400" b="1" dirty="0">
                <a:solidFill>
                  <a:srgbClr val="8F3508"/>
                </a:solidFill>
                <a:latin typeface="JetBrains Mono" pitchFamily="49" charset="0"/>
                <a:ea typeface="JetBrains Mono" pitchFamily="49" charset="-122"/>
                <a:cs typeface="JetBrains Mono" pitchFamily="49" charset="-120"/>
              </a:rPr>
              <a:t>AAAB + ABB → AAABB</a:t>
            </a:r>
            <a:endParaRPr lang="en-US" sz="1400" dirty="0"/>
          </a:p>
        </p:txBody>
      </p:sp>
      <p:sp>
        <p:nvSpPr>
          <p:cNvPr id="15" name="Text 12"/>
          <p:cNvSpPr/>
          <p:nvPr/>
        </p:nvSpPr>
        <p:spPr>
          <a:xfrm>
            <a:off x="7680960" y="3321050"/>
            <a:ext cx="358942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BBB lấp vào chỗ ABB:</a:t>
            </a:r>
            <a:endParaRPr lang="en-US" sz="1400" dirty="0"/>
          </a:p>
        </p:txBody>
      </p:sp>
      <p:sp>
        <p:nvSpPr>
          <p:cNvPr id="16" name="Text 13"/>
          <p:cNvSpPr/>
          <p:nvPr/>
        </p:nvSpPr>
        <p:spPr>
          <a:xfrm>
            <a:off x="7680960" y="3671571"/>
            <a:ext cx="35894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AAABB, BBA, BBB</a:t>
            </a:r>
            <a:endParaRPr lang="en-US" sz="1400" dirty="0"/>
          </a:p>
        </p:txBody>
      </p:sp>
      <p:sp>
        <p:nvSpPr>
          <p:cNvPr id="17" name="Text 14"/>
          <p:cNvSpPr/>
          <p:nvPr/>
        </p:nvSpPr>
        <p:spPr>
          <a:xfrm>
            <a:off x="7680960" y="4022092"/>
            <a:ext cx="35894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Tiết kiệm thêm 2 ký tự (tổng 4).</a:t>
            </a:r>
            <a:endParaRPr lang="en-US" sz="1200" dirty="0"/>
          </a:p>
        </p:txBody>
      </p:sp>
      <p:sp>
        <p:nvSpPr>
          <p:cNvPr id="18" name="Text 15"/>
          <p:cNvSpPr/>
          <p:nvPr/>
        </p:nvSpPr>
        <p:spPr>
          <a:xfrm>
            <a:off x="9226550" y="844550"/>
            <a:ext cx="2146300" cy="322580"/>
          </a:xfrm>
          <a:custGeom>
            <a:avLst/>
            <a:gdLst/>
            <a:ahLst/>
            <a:cxnLst/>
            <a:rect l="l" t="t" r="r" b="b"/>
            <a:pathLst>
              <a:path w="2146300" h="322580">
                <a:moveTo>
                  <a:pt x="161290" y="0"/>
                </a:moveTo>
                <a:lnTo>
                  <a:pt x="1985010" y="0"/>
                </a:lnTo>
                <a:arcTo hR="161290" wR="161290" stAng="16200000" swAng="5400000"/>
                <a:lnTo>
                  <a:pt x="2146300" y="161290"/>
                </a:lnTo>
                <a:arcTo hR="161290" wR="161290" stAng="0" swAng="5400000"/>
                <a:lnTo>
                  <a:pt x="161290" y="322580"/>
                </a:lnTo>
                <a:arcTo hR="161290" wR="161290" stAng="5400000" swAng="5400000"/>
                <a:lnTo>
                  <a:pt x="0" y="161290"/>
                </a:lnTo>
                <a:arcTo hR="161290" wR="161290" stAng="10800000" swAng="5400000"/>
                <a:close/>
              </a:path>
            </a:pathLst>
          </a:custGeom>
          <a:solidFill>
            <a:srgbClr val="FBE3D3"/>
          </a:solidFill>
          <a:ln w="12700">
            <a:solidFill>
              <a:srgbClr val="B8460F"/>
            </a:solidFill>
            <a:prstDash val="solid"/>
          </a:ln>
        </p:spPr>
        <p:txBody>
          <a:bodyPr wrap="square" lIns="0" tIns="54610" rIns="0" bIns="29210" rtlCol="0" anchor="t">
            <a:normAutofit/>
          </a:bodyPr>
          <a:lstStyle/>
          <a:p>
            <a:pPr algn="ctr" indent="0" marL="0">
              <a:lnSpc>
                <a:spcPts val="1680"/>
              </a:lnSpc>
              <a:buNone/>
            </a:pPr>
            <a:r>
              <a:rPr lang="en-US" sz="1200" b="1" spc="100" kern="0" dirty="0">
                <a:solidFill>
                  <a:srgbClr val="8F3508"/>
                </a:solidFill>
                <a:latin typeface="IBM Plex Sans" pitchFamily="34" charset="0"/>
                <a:ea typeface="IBM Plex Sans" pitchFamily="34" charset="-122"/>
                <a:cs typeface="IBM Plex Sans" pitchFamily="34" charset="-120"/>
              </a:rPr>
              <a:t>CÁCH GIẢI · GREEDY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VÍ DỤ · VÒNG 3 TRÊN 4</a:t>
            </a:r>
            <a:endParaRPr lang="en-US" sz="1200" dirty="0"/>
          </a:p>
        </p:txBody>
      </p:sp>
      <p:sp>
        <p:nvSpPr>
          <p:cNvPr id="3" name="Text 1"/>
          <p:cNvSpPr/>
          <p:nvPr>
            <p:ph type="title"/>
          </p:nvPr>
        </p:nvSpPr>
        <p:spPr>
          <a:xfrm>
            <a:off x="812800" y="10769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430"/>
                </a:solidFill>
                <a:latin typeface="IBM Plex Sans" pitchFamily="34" charset="0"/>
                <a:ea typeface="IBM Plex Sans" pitchFamily="34" charset="-122"/>
                <a:cs typeface="IBM Plex Sans" pitchFamily="34" charset="-120"/>
              </a:rPr>
              <a:t>Gộp AAABB với BBA: chỗ rẽ nhánh</a:t>
            </a:r>
            <a:endParaRPr lang="en-US" sz="2600" dirty="0"/>
          </a:p>
        </p:txBody>
      </p:sp>
      <p:sp>
        <p:nvSpPr>
          <p:cNvPr id="4" name="Text 2"/>
          <p:cNvSpPr/>
          <p:nvPr/>
        </p:nvSpPr>
        <p:spPr>
          <a:xfrm>
            <a:off x="812800" y="165989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Danh sách hiện tại (arr)</a:t>
            </a:r>
            <a:endParaRPr lang="en-US" sz="1200" dirty="0"/>
          </a:p>
        </p:txBody>
      </p:sp>
      <p:sp>
        <p:nvSpPr>
          <p:cNvPr id="5" name="Text 3"/>
          <p:cNvSpPr/>
          <p:nvPr/>
        </p:nvSpPr>
        <p:spPr>
          <a:xfrm>
            <a:off x="819150" y="1955800"/>
            <a:ext cx="922020" cy="419100"/>
          </a:xfrm>
          <a:prstGeom prst="roundRect">
            <a:avLst>
              <a:gd name="adj" fmla="val 16667"/>
            </a:avLst>
          </a:prstGeom>
          <a:solidFill>
            <a:srgbClr val="FBE3D3"/>
          </a:solidFill>
          <a:ln w="12700">
            <a:solidFill>
              <a:srgbClr val="B8460F"/>
            </a:solidFill>
            <a:prstDash val="solid"/>
          </a:ln>
        </p:spPr>
        <p:txBody>
          <a:bodyPr wrap="none" lIns="0" tIns="0" rIns="0" bIns="0" rtlCol="0" anchor="ctr">
            <a:normAutofit/>
          </a:bodyPr>
          <a:lstStyle/>
          <a:p>
            <a:pPr algn="ctr" indent="0" marL="0">
              <a:lnSpc>
                <a:spcPts val="2240"/>
              </a:lnSpc>
              <a:buNone/>
            </a:pPr>
            <a:r>
              <a:rPr lang="en-US" sz="1600" b="1" dirty="0">
                <a:solidFill>
                  <a:srgbClr val="8F3508"/>
                </a:solidFill>
                <a:latin typeface="JetBrains Mono" pitchFamily="49" charset="0"/>
                <a:ea typeface="JetBrains Mono" pitchFamily="49" charset="-122"/>
                <a:cs typeface="JetBrains Mono" pitchFamily="49" charset="-120"/>
              </a:rPr>
              <a:t>AAABB</a:t>
            </a:r>
            <a:endParaRPr lang="en-US" sz="1600" dirty="0"/>
          </a:p>
        </p:txBody>
      </p:sp>
      <p:sp>
        <p:nvSpPr>
          <p:cNvPr id="6" name="Text 4"/>
          <p:cNvSpPr/>
          <p:nvPr/>
        </p:nvSpPr>
        <p:spPr>
          <a:xfrm>
            <a:off x="1855470" y="1955800"/>
            <a:ext cx="678180" cy="419100"/>
          </a:xfrm>
          <a:prstGeom prst="roundRect">
            <a:avLst>
              <a:gd name="adj" fmla="val 16667"/>
            </a:avLst>
          </a:prstGeom>
          <a:solidFill>
            <a:srgbClr val="FBE3D3"/>
          </a:solidFill>
          <a:ln w="12700">
            <a:solidFill>
              <a:srgbClr val="B8460F"/>
            </a:solidFill>
            <a:prstDash val="solid"/>
          </a:ln>
        </p:spPr>
        <p:txBody>
          <a:bodyPr wrap="none" lIns="0" tIns="0" rIns="0" bIns="0" rtlCol="0" anchor="ctr">
            <a:normAutofit/>
          </a:bodyPr>
          <a:lstStyle/>
          <a:p>
            <a:pPr algn="ctr" indent="0" marL="0">
              <a:lnSpc>
                <a:spcPts val="2240"/>
              </a:lnSpc>
              <a:buNone/>
            </a:pPr>
            <a:r>
              <a:rPr lang="en-US" sz="1600" b="1" dirty="0">
                <a:solidFill>
                  <a:srgbClr val="8F3508"/>
                </a:solidFill>
                <a:latin typeface="JetBrains Mono" pitchFamily="49" charset="0"/>
                <a:ea typeface="JetBrains Mono" pitchFamily="49" charset="-122"/>
                <a:cs typeface="JetBrains Mono" pitchFamily="49" charset="-120"/>
              </a:rPr>
              <a:t>BBA</a:t>
            </a:r>
            <a:endParaRPr lang="en-US" sz="1600" dirty="0"/>
          </a:p>
        </p:txBody>
      </p:sp>
      <p:sp>
        <p:nvSpPr>
          <p:cNvPr id="7" name="Text 5"/>
          <p:cNvSpPr/>
          <p:nvPr/>
        </p:nvSpPr>
        <p:spPr>
          <a:xfrm>
            <a:off x="2647950" y="1955800"/>
            <a:ext cx="67818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BBB</a:t>
            </a:r>
            <a:endParaRPr lang="en-US" sz="1600" dirty="0"/>
          </a:p>
        </p:txBody>
      </p:sp>
      <p:sp>
        <p:nvSpPr>
          <p:cNvPr id="8" name="Text 6"/>
          <p:cNvSpPr/>
          <p:nvPr/>
        </p:nvSpPr>
        <p:spPr>
          <a:xfrm>
            <a:off x="812800" y="2457450"/>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Bảng overlap (hàng a, cột b)</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2757174"/>
          <a:ext cx="6339840" cy="1534160"/>
        </p:xfrm>
        <a:graphic>
          <a:graphicData uri="http://schemas.openxmlformats.org/drawingml/2006/table">
            <a:tbl>
              <a:tblPr/>
              <a:tblGrid>
                <a:gridCol w="1775155"/>
                <a:gridCol w="1521562"/>
                <a:gridCol w="1521562"/>
                <a:gridCol w="1521562"/>
              </a:tblGrid>
              <a:tr h="383540">
                <a:tc>
                  <a:txBody>
                    <a:bodyPr/>
                    <a:lstStyle/>
                    <a:p>
                      <a:pPr indent="0" marL="0">
                        <a:lnSpc>
                          <a:spcPts val="1960"/>
                        </a:lnSpc>
                        <a:buNone/>
                      </a:pP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AAABB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BBA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BBB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AAABB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BBA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8B5A9"/>
                      </a:solidFill>
                      <a:prstDash val="solid"/>
                      <a:round/>
                      <a:headEnd type="none" w="med" len="med"/>
                      <a:tailEnd type="none" w="med" len="med"/>
                    </a:lnL>
                    <a:lnR w="12700" cap="flat" cmpd="sng" algn="ctr">
                      <a:solidFill>
                        <a:srgbClr val="C8B5A9"/>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8B5A9"/>
                      </a:solidFill>
                      <a:prstDash val="solid"/>
                      <a:round/>
                      <a:headEnd type="none" w="med" len="med"/>
                      <a:tailEnd type="none" w="med" len="med"/>
                    </a:lnB>
                    <a:solidFill>
                      <a:srgbClr val="FBE3D3"/>
                    </a:solidFill>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BBB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8B5A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10" name="Shape 7"/>
          <p:cNvSpPr/>
          <p:nvPr/>
        </p:nvSpPr>
        <p:spPr>
          <a:xfrm>
            <a:off x="7473950" y="1666242"/>
            <a:ext cx="3898900" cy="2989580"/>
          </a:xfrm>
          <a:prstGeom prst="roundRect">
            <a:avLst>
              <a:gd name="adj" fmla="val 3186"/>
            </a:avLst>
          </a:prstGeom>
          <a:solidFill>
            <a:srgbClr val="FCFBF7"/>
          </a:solidFill>
          <a:ln w="12700">
            <a:solidFill>
              <a:srgbClr val="DDD9CC"/>
            </a:solidFill>
            <a:prstDash val="solid"/>
          </a:ln>
        </p:spPr>
      </p:sp>
      <p:sp>
        <p:nvSpPr>
          <p:cNvPr id="11" name="Text 8"/>
          <p:cNvSpPr/>
          <p:nvPr/>
        </p:nvSpPr>
        <p:spPr>
          <a:xfrm>
            <a:off x="7680960" y="1873250"/>
            <a:ext cx="358942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IBM Plex Sans" pitchFamily="34" charset="0"/>
                <a:ea typeface="IBM Plex Sans" pitchFamily="34" charset="-122"/>
                <a:cs typeface="IBM Plex Sans" pitchFamily="34" charset="-120"/>
              </a:rPr>
              <a:t>Ba cặp hoà</a:t>
            </a:r>
            <a:endParaRPr lang="en-US" sz="1600" dirty="0"/>
          </a:p>
        </p:txBody>
      </p:sp>
      <p:sp>
        <p:nvSpPr>
          <p:cNvPr id="12" name="Text 9"/>
          <p:cNvSpPr/>
          <p:nvPr/>
        </p:nvSpPr>
        <p:spPr>
          <a:xfrm>
            <a:off x="7680960" y="2218692"/>
            <a:ext cx="358942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AAABB → BBA, AAABB → BBB và BBB → BBA cùng bằng 2.</a:t>
            </a:r>
            <a:endParaRPr lang="en-US" sz="1400" dirty="0"/>
          </a:p>
        </p:txBody>
      </p:sp>
      <p:sp>
        <p:nvSpPr>
          <p:cNvPr id="13" name="Text 10"/>
          <p:cNvSpPr/>
          <p:nvPr/>
        </p:nvSpPr>
        <p:spPr>
          <a:xfrm>
            <a:off x="7680960" y="2818129"/>
            <a:ext cx="3484880" cy="401320"/>
          </a:xfrm>
          <a:prstGeom prst="roundRect">
            <a:avLst>
              <a:gd name="adj" fmla="val 18987"/>
            </a:avLst>
          </a:prstGeom>
          <a:solidFill>
            <a:srgbClr val="FBE3D3"/>
          </a:solidFill>
          <a:ln/>
        </p:spPr>
        <p:txBody>
          <a:bodyPr wrap="square" lIns="104682" tIns="53882" rIns="7755" bIns="28482" rtlCol="0" anchor="t">
            <a:normAutofit/>
          </a:bodyPr>
          <a:lstStyle/>
          <a:p>
            <a:pPr algn="l" indent="0" marL="0">
              <a:lnSpc>
                <a:spcPts val="1960"/>
              </a:lnSpc>
              <a:buNone/>
            </a:pPr>
            <a:r>
              <a:rPr lang="en-US" sz="1400" b="1" dirty="0">
                <a:solidFill>
                  <a:srgbClr val="8F3508"/>
                </a:solidFill>
                <a:latin typeface="JetBrains Mono" pitchFamily="49" charset="0"/>
                <a:ea typeface="JetBrains Mono" pitchFamily="49" charset="-122"/>
                <a:cs typeface="JetBrains Mono" pitchFamily="49" charset="-120"/>
              </a:rPr>
              <a:t>AAABB + BBA → AAABBA</a:t>
            </a:r>
            <a:endParaRPr lang="en-US" sz="1400" dirty="0"/>
          </a:p>
        </p:txBody>
      </p:sp>
      <p:sp>
        <p:nvSpPr>
          <p:cNvPr id="14" name="Text 11"/>
          <p:cNvSpPr/>
          <p:nvPr/>
        </p:nvSpPr>
        <p:spPr>
          <a:xfrm>
            <a:off x="7680960" y="3321050"/>
            <a:ext cx="358942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arr sau vòng:</a:t>
            </a:r>
            <a:endParaRPr lang="en-US" sz="1400" dirty="0"/>
          </a:p>
        </p:txBody>
      </p:sp>
      <p:sp>
        <p:nvSpPr>
          <p:cNvPr id="15" name="Text 12"/>
          <p:cNvSpPr/>
          <p:nvPr/>
        </p:nvSpPr>
        <p:spPr>
          <a:xfrm>
            <a:off x="7680960" y="3671571"/>
            <a:ext cx="35894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AAABBA, BBB</a:t>
            </a:r>
            <a:endParaRPr lang="en-US" sz="1400" dirty="0"/>
          </a:p>
        </p:txBody>
      </p:sp>
      <p:sp>
        <p:nvSpPr>
          <p:cNvPr id="16" name="Text 13"/>
          <p:cNvSpPr/>
          <p:nvPr/>
        </p:nvSpPr>
        <p:spPr>
          <a:xfrm>
            <a:off x="7779766" y="4022092"/>
            <a:ext cx="3483000" cy="45212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5A6573"/>
                </a:solidFill>
                <a:latin typeface="IBM Plex Sans" pitchFamily="34" charset="0"/>
                <a:ea typeface="IBM Plex Sans" pitchFamily="34" charset="-122"/>
                <a:cs typeface="IBM Plex Sans" pitchFamily="34" charset="-120"/>
              </a:rPr>
              <a:t>Tiết kiệm thêm 2 ký tự (tổng 6). </a:t>
            </a:r>
            <a:endParaRPr lang="en-US" sz="1200" dirty="0"/>
          </a:p>
          <a:p>
            <a:pPr algn="l" marL="155194" indent="-155194">
              <a:lnSpc>
                <a:spcPts val="1680"/>
              </a:lnSpc>
              <a:buSzPct val="100000"/>
              <a:buChar char="•"/>
            </a:pPr>
            <a:r>
              <a:rPr lang="en-US" sz="1200" dirty="0">
                <a:solidFill>
                  <a:srgbClr val="5A6573"/>
                </a:solidFill>
                <a:latin typeface="IBM Plex Sans" pitchFamily="34" charset="0"/>
                <a:ea typeface="IBM Plex Sans" pitchFamily="34" charset="-122"/>
                <a:cs typeface="IBM Plex Sans" pitchFamily="34" charset="-120"/>
              </a:rPr>
              <a:t>Nếu chọn cạnh AAABB - BBB thì sao?</a:t>
            </a:r>
            <a:endParaRPr lang="en-US" sz="1200" dirty="0"/>
          </a:p>
        </p:txBody>
      </p:sp>
      <p:sp>
        <p:nvSpPr>
          <p:cNvPr id="17" name="Text 14"/>
          <p:cNvSpPr/>
          <p:nvPr/>
        </p:nvSpPr>
        <p:spPr>
          <a:xfrm>
            <a:off x="9226550" y="844550"/>
            <a:ext cx="2146300" cy="322580"/>
          </a:xfrm>
          <a:custGeom>
            <a:avLst/>
            <a:gdLst/>
            <a:ahLst/>
            <a:cxnLst/>
            <a:rect l="l" t="t" r="r" b="b"/>
            <a:pathLst>
              <a:path w="2146300" h="322580">
                <a:moveTo>
                  <a:pt x="161290" y="0"/>
                </a:moveTo>
                <a:lnTo>
                  <a:pt x="1985010" y="0"/>
                </a:lnTo>
                <a:arcTo hR="161290" wR="161290" stAng="16200000" swAng="5400000"/>
                <a:lnTo>
                  <a:pt x="2146300" y="161290"/>
                </a:lnTo>
                <a:arcTo hR="161290" wR="161290" stAng="0" swAng="5400000"/>
                <a:lnTo>
                  <a:pt x="161290" y="322580"/>
                </a:lnTo>
                <a:arcTo hR="161290" wR="161290" stAng="5400000" swAng="5400000"/>
                <a:lnTo>
                  <a:pt x="0" y="161290"/>
                </a:lnTo>
                <a:arcTo hR="161290" wR="161290" stAng="10800000" swAng="5400000"/>
                <a:close/>
              </a:path>
            </a:pathLst>
          </a:custGeom>
          <a:solidFill>
            <a:srgbClr val="FBE3D3"/>
          </a:solidFill>
          <a:ln w="12700">
            <a:solidFill>
              <a:srgbClr val="B8460F"/>
            </a:solidFill>
            <a:prstDash val="solid"/>
          </a:ln>
        </p:spPr>
        <p:txBody>
          <a:bodyPr wrap="square" lIns="0" tIns="54610" rIns="0" bIns="29210" rtlCol="0" anchor="t">
            <a:normAutofit/>
          </a:bodyPr>
          <a:lstStyle/>
          <a:p>
            <a:pPr algn="ctr" indent="0" marL="0">
              <a:lnSpc>
                <a:spcPts val="1680"/>
              </a:lnSpc>
              <a:buNone/>
            </a:pPr>
            <a:r>
              <a:rPr lang="en-US" sz="1200" b="1" spc="100" kern="0" dirty="0">
                <a:solidFill>
                  <a:srgbClr val="8F3508"/>
                </a:solidFill>
                <a:latin typeface="IBM Plex Sans" pitchFamily="34" charset="0"/>
                <a:ea typeface="IBM Plex Sans" pitchFamily="34" charset="-122"/>
                <a:cs typeface="IBM Plex Sans" pitchFamily="34" charset="-120"/>
              </a:rPr>
              <a:t>CÁCH GIẢI · GREEDY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VÍ DỤ · VÒNG 4 TRÊN 4</a:t>
            </a:r>
            <a:endParaRPr lang="en-US" sz="1200" dirty="0"/>
          </a:p>
        </p:txBody>
      </p:sp>
      <p:sp>
        <p:nvSpPr>
          <p:cNvPr id="3" name="Text 1"/>
          <p:cNvSpPr/>
          <p:nvPr>
            <p:ph type="title"/>
          </p:nvPr>
        </p:nvSpPr>
        <p:spPr>
          <a:xfrm>
            <a:off x="812800" y="10769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430"/>
                </a:solidFill>
                <a:latin typeface="IBM Plex Sans" pitchFamily="34" charset="0"/>
                <a:ea typeface="IBM Plex Sans" pitchFamily="34" charset="-122"/>
                <a:cs typeface="IBM Plex Sans" pitchFamily="34" charset="-120"/>
              </a:rPr>
              <a:t>Hết overlap: nối đuôi</a:t>
            </a:r>
            <a:endParaRPr lang="en-US" sz="2600" dirty="0"/>
          </a:p>
        </p:txBody>
      </p:sp>
      <p:sp>
        <p:nvSpPr>
          <p:cNvPr id="4" name="Text 2"/>
          <p:cNvSpPr/>
          <p:nvPr/>
        </p:nvSpPr>
        <p:spPr>
          <a:xfrm>
            <a:off x="812800" y="165989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Danh sách hiện tại (arr)</a:t>
            </a:r>
            <a:endParaRPr lang="en-US" sz="1200" dirty="0"/>
          </a:p>
        </p:txBody>
      </p:sp>
      <p:sp>
        <p:nvSpPr>
          <p:cNvPr id="5" name="Text 3"/>
          <p:cNvSpPr/>
          <p:nvPr/>
        </p:nvSpPr>
        <p:spPr>
          <a:xfrm>
            <a:off x="819150" y="1955800"/>
            <a:ext cx="104394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AAABBA</a:t>
            </a:r>
            <a:endParaRPr lang="en-US" sz="1600" dirty="0"/>
          </a:p>
        </p:txBody>
      </p:sp>
      <p:sp>
        <p:nvSpPr>
          <p:cNvPr id="6" name="Text 4"/>
          <p:cNvSpPr/>
          <p:nvPr/>
        </p:nvSpPr>
        <p:spPr>
          <a:xfrm>
            <a:off x="1977390" y="1955800"/>
            <a:ext cx="678180" cy="419100"/>
          </a:xfrm>
          <a:prstGeom prst="roundRect">
            <a:avLst>
              <a:gd name="adj" fmla="val 16667"/>
            </a:avLst>
          </a:prstGeom>
          <a:solidFill>
            <a:srgbClr val="E4E9F3"/>
          </a:solidFill>
          <a:ln w="12700">
            <a:solidFill>
              <a:srgbClr val="C5CFE3"/>
            </a:solidFill>
            <a:prstDash val="solid"/>
          </a:ln>
        </p:spPr>
        <p:txBody>
          <a:bodyPr wrap="none" lIns="0" tIns="0" rIns="0" bIns="0" rtlCol="0" anchor="ctr">
            <a:normAutofit/>
          </a:bodyPr>
          <a:lstStyle/>
          <a:p>
            <a:pPr algn="ctr" indent="0" marL="0">
              <a:lnSpc>
                <a:spcPts val="2240"/>
              </a:lnSpc>
              <a:buNone/>
            </a:pPr>
            <a:r>
              <a:rPr lang="en-US" sz="1600" b="1" dirty="0">
                <a:solidFill>
                  <a:srgbClr val="1B2430"/>
                </a:solidFill>
                <a:latin typeface="JetBrains Mono" pitchFamily="49" charset="0"/>
                <a:ea typeface="JetBrains Mono" pitchFamily="49" charset="-122"/>
                <a:cs typeface="JetBrains Mono" pitchFamily="49" charset="-120"/>
              </a:rPr>
              <a:t>BBB</a:t>
            </a:r>
            <a:endParaRPr lang="en-US" sz="1600" dirty="0"/>
          </a:p>
        </p:txBody>
      </p:sp>
      <p:sp>
        <p:nvSpPr>
          <p:cNvPr id="7" name="Text 5"/>
          <p:cNvSpPr/>
          <p:nvPr/>
        </p:nvSpPr>
        <p:spPr>
          <a:xfrm>
            <a:off x="812800" y="2457450"/>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Bảng overlap (hàng a, cột b)</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757174"/>
          <a:ext cx="6339840" cy="1150620"/>
        </p:xfrm>
        <a:graphic>
          <a:graphicData uri="http://schemas.openxmlformats.org/drawingml/2006/table">
            <a:tbl>
              <a:tblPr/>
              <a:tblGrid>
                <a:gridCol w="2535936"/>
                <a:gridCol w="1901952"/>
                <a:gridCol w="1901952"/>
              </a:tblGrid>
              <a:tr h="383540">
                <a:tc>
                  <a:txBody>
                    <a:bodyPr/>
                    <a:lstStyle/>
                    <a:p>
                      <a:pPr indent="0" marL="0">
                        <a:lnSpc>
                          <a:spcPts val="1960"/>
                        </a:lnSpc>
                        <a:buNone/>
                      </a:pP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AAABBA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1960"/>
                        </a:lnSpc>
                        <a:buNone/>
                      </a:pPr>
                      <a:r>
                        <a:rPr lang="en-US" sz="1400" b="1" dirty="0">
                          <a:solidFill>
                            <a:srgbClr val="1B2430"/>
                          </a:solidFill>
                          <a:latin typeface="JetBrains Mono" pitchFamily="49" charset="0"/>
                          <a:ea typeface="JetBrains Mono" pitchFamily="49" charset="-122"/>
                          <a:cs typeface="JetBrains Mono" pitchFamily="49" charset="-120"/>
                        </a:rPr>
                        <a:t>BBB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AAABBA</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BBB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9" name="Text 6"/>
          <p:cNvSpPr/>
          <p:nvPr/>
        </p:nvSpPr>
        <p:spPr>
          <a:xfrm>
            <a:off x="812800" y="4085592"/>
            <a:ext cx="65405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5FBF"/>
                </a:solidFill>
                <a:latin typeface="JetBrains Mono" pitchFamily="49" charset="0"/>
                <a:ea typeface="JetBrains Mono" pitchFamily="49" charset="-122"/>
                <a:cs typeface="JetBrains Mono" pitchFamily="49" charset="-120"/>
              </a:rPr>
              <a:t>AAABBA</a:t>
            </a:r>
            <a:r>
              <a:rPr lang="en-US" sz="1800" b="1" dirty="0">
                <a:solidFill>
                  <a:srgbClr val="B8460F"/>
                </a:solidFill>
                <a:latin typeface="JetBrains Mono" pitchFamily="49" charset="0"/>
                <a:ea typeface="JetBrains Mono" pitchFamily="49" charset="-122"/>
                <a:cs typeface="JetBrains Mono" pitchFamily="49" charset="-120"/>
              </a:rPr>
              <a:t>BBB</a:t>
            </a:r>
            <a:endParaRPr lang="en-US" sz="1800" dirty="0"/>
          </a:p>
        </p:txBody>
      </p:sp>
      <p:sp>
        <p:nvSpPr>
          <p:cNvPr id="10" name="Shape 7"/>
          <p:cNvSpPr/>
          <p:nvPr/>
        </p:nvSpPr>
        <p:spPr>
          <a:xfrm>
            <a:off x="7473950" y="1666242"/>
            <a:ext cx="3898900" cy="2212340"/>
          </a:xfrm>
          <a:prstGeom prst="roundRect">
            <a:avLst>
              <a:gd name="adj" fmla="val 4305"/>
            </a:avLst>
          </a:prstGeom>
          <a:solidFill>
            <a:srgbClr val="FCFBF7"/>
          </a:solidFill>
          <a:ln w="12700">
            <a:solidFill>
              <a:srgbClr val="DDD9CC"/>
            </a:solidFill>
            <a:prstDash val="solid"/>
          </a:ln>
        </p:spPr>
      </p:sp>
      <p:sp>
        <p:nvSpPr>
          <p:cNvPr id="11" name="Text 8"/>
          <p:cNvSpPr/>
          <p:nvPr/>
        </p:nvSpPr>
        <p:spPr>
          <a:xfrm>
            <a:off x="7680960" y="1873250"/>
            <a:ext cx="358942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IBM Plex Sans" pitchFamily="34" charset="0"/>
                <a:ea typeface="IBM Plex Sans" pitchFamily="34" charset="-122"/>
                <a:cs typeface="IBM Plex Sans" pitchFamily="34" charset="-120"/>
              </a:rPr>
              <a:t>Quy ước 4</a:t>
            </a:r>
            <a:endParaRPr lang="en-US" sz="1600" dirty="0"/>
          </a:p>
        </p:txBody>
      </p:sp>
      <p:sp>
        <p:nvSpPr>
          <p:cNvPr id="12" name="Text 9"/>
          <p:cNvSpPr/>
          <p:nvPr/>
        </p:nvSpPr>
        <p:spPr>
          <a:xfrm>
            <a:off x="7680960" y="2218692"/>
            <a:ext cx="358942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Mọi ô đều là 0, nên ghép thẳng hai chuỗi.</a:t>
            </a:r>
            <a:endParaRPr lang="en-US" sz="1400" dirty="0"/>
          </a:p>
        </p:txBody>
      </p:sp>
      <p:sp>
        <p:nvSpPr>
          <p:cNvPr id="13" name="Text 10"/>
          <p:cNvSpPr/>
          <p:nvPr/>
        </p:nvSpPr>
        <p:spPr>
          <a:xfrm>
            <a:off x="7680960" y="2569214"/>
            <a:ext cx="3484880" cy="401320"/>
          </a:xfrm>
          <a:prstGeom prst="roundRect">
            <a:avLst>
              <a:gd name="adj" fmla="val 18987"/>
            </a:avLst>
          </a:prstGeom>
          <a:solidFill>
            <a:srgbClr val="FBE3D3"/>
          </a:solidFill>
          <a:ln/>
        </p:spPr>
        <p:txBody>
          <a:bodyPr wrap="square" lIns="104682" tIns="53882" rIns="7755" bIns="28482" rtlCol="0" anchor="t">
            <a:normAutofit/>
          </a:bodyPr>
          <a:lstStyle/>
          <a:p>
            <a:pPr algn="l" indent="0" marL="0">
              <a:lnSpc>
                <a:spcPts val="1960"/>
              </a:lnSpc>
              <a:buNone/>
            </a:pPr>
            <a:r>
              <a:rPr lang="en-US" sz="1400" b="1" dirty="0">
                <a:solidFill>
                  <a:srgbClr val="8F3508"/>
                </a:solidFill>
                <a:latin typeface="JetBrains Mono" pitchFamily="49" charset="0"/>
                <a:ea typeface="JetBrains Mono" pitchFamily="49" charset="-122"/>
                <a:cs typeface="JetBrains Mono" pitchFamily="49" charset="-120"/>
              </a:rPr>
              <a:t>AAABBABBB</a:t>
            </a:r>
            <a:endParaRPr lang="en-US" sz="1400" dirty="0"/>
          </a:p>
        </p:txBody>
      </p:sp>
      <p:sp>
        <p:nvSpPr>
          <p:cNvPr id="14" name="Text 11"/>
          <p:cNvSpPr/>
          <p:nvPr/>
        </p:nvSpPr>
        <p:spPr>
          <a:xfrm>
            <a:off x="7680960" y="3072129"/>
            <a:ext cx="358942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Tiết kiệm 2 + 2 + 2 + 0 = 6</a:t>
            </a:r>
            <a:endParaRPr lang="en-US" sz="1400" dirty="0"/>
          </a:p>
        </p:txBody>
      </p:sp>
      <p:sp>
        <p:nvSpPr>
          <p:cNvPr id="15" name="Text 12"/>
          <p:cNvSpPr/>
          <p:nvPr/>
        </p:nvSpPr>
        <p:spPr>
          <a:xfrm>
            <a:off x="7680960" y="3422650"/>
            <a:ext cx="358942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15 − 6 = </a:t>
            </a:r>
            <a:r>
              <a:rPr lang="en-US" sz="1400" b="1" dirty="0">
                <a:solidFill>
                  <a:srgbClr val="1B2430"/>
                </a:solidFill>
                <a:latin typeface="IBM Plex Sans" pitchFamily="34" charset="0"/>
                <a:ea typeface="IBM Plex Sans" pitchFamily="34" charset="-122"/>
                <a:cs typeface="IBM Plex Sans" pitchFamily="34" charset="-120"/>
              </a:rPr>
              <a:t>9 ký tự</a:t>
            </a:r>
            <a:r>
              <a:rPr lang="en-US" sz="1400" dirty="0">
                <a:solidFill>
                  <a:srgbClr val="1B2430"/>
                </a:solidFill>
                <a:latin typeface="IBM Plex Sans" pitchFamily="34" charset="0"/>
                <a:ea typeface="IBM Plex Sans" pitchFamily="34" charset="-122"/>
                <a:cs typeface="IBM Plex Sans" pitchFamily="34" charset="-120"/>
              </a:rPr>
              <a:t>, dài hơn tối ưu 2 ký tự.</a:t>
            </a:r>
            <a:endParaRPr lang="en-US" sz="1400" dirty="0"/>
          </a:p>
        </p:txBody>
      </p:sp>
      <p:sp>
        <p:nvSpPr>
          <p:cNvPr id="16" name="Text 13"/>
          <p:cNvSpPr/>
          <p:nvPr/>
        </p:nvSpPr>
        <p:spPr>
          <a:xfrm>
            <a:off x="9226550" y="844550"/>
            <a:ext cx="2146300" cy="322580"/>
          </a:xfrm>
          <a:custGeom>
            <a:avLst/>
            <a:gdLst/>
            <a:ahLst/>
            <a:cxnLst/>
            <a:rect l="l" t="t" r="r" b="b"/>
            <a:pathLst>
              <a:path w="2146300" h="322580">
                <a:moveTo>
                  <a:pt x="161290" y="0"/>
                </a:moveTo>
                <a:lnTo>
                  <a:pt x="1985010" y="0"/>
                </a:lnTo>
                <a:arcTo hR="161290" wR="161290" stAng="16200000" swAng="5400000"/>
                <a:lnTo>
                  <a:pt x="2146300" y="161290"/>
                </a:lnTo>
                <a:arcTo hR="161290" wR="161290" stAng="0" swAng="5400000"/>
                <a:lnTo>
                  <a:pt x="161290" y="322580"/>
                </a:lnTo>
                <a:arcTo hR="161290" wR="161290" stAng="5400000" swAng="5400000"/>
                <a:lnTo>
                  <a:pt x="0" y="161290"/>
                </a:lnTo>
                <a:arcTo hR="161290" wR="161290" stAng="10800000" swAng="5400000"/>
                <a:close/>
              </a:path>
            </a:pathLst>
          </a:custGeom>
          <a:solidFill>
            <a:srgbClr val="FBE3D3"/>
          </a:solidFill>
          <a:ln w="12700">
            <a:solidFill>
              <a:srgbClr val="B8460F"/>
            </a:solidFill>
            <a:prstDash val="solid"/>
          </a:ln>
        </p:spPr>
        <p:txBody>
          <a:bodyPr wrap="square" lIns="0" tIns="54610" rIns="0" bIns="29210" rtlCol="0" anchor="t">
            <a:normAutofit/>
          </a:bodyPr>
          <a:lstStyle/>
          <a:p>
            <a:pPr algn="ctr" indent="0" marL="0">
              <a:lnSpc>
                <a:spcPts val="1680"/>
              </a:lnSpc>
              <a:buNone/>
            </a:pPr>
            <a:r>
              <a:rPr lang="en-US" sz="1200" b="1" spc="100" kern="0" dirty="0">
                <a:solidFill>
                  <a:srgbClr val="8F3508"/>
                </a:solidFill>
                <a:latin typeface="IBM Plex Sans" pitchFamily="34" charset="0"/>
                <a:ea typeface="IBM Plex Sans" pitchFamily="34" charset="-122"/>
                <a:cs typeface="IBM Plex Sans" pitchFamily="34" charset="-120"/>
              </a:rPr>
              <a:t>CÁCH GIẢI · GREEDY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VÍ DỤ · ĐỒ THỊ</a:t>
            </a:r>
            <a:endParaRPr lang="en-US" sz="1200" dirty="0"/>
          </a:p>
        </p:txBody>
      </p:sp>
      <p:sp>
        <p:nvSpPr>
          <p:cNvPr id="3" name="Text 1"/>
          <p:cNvSpPr/>
          <p:nvPr>
            <p:ph type="title"/>
          </p:nvPr>
        </p:nvSpPr>
        <p:spPr>
          <a:xfrm>
            <a:off x="812800" y="10769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430"/>
                </a:solidFill>
                <a:latin typeface="IBM Plex Sans" pitchFamily="34" charset="0"/>
                <a:ea typeface="IBM Plex Sans" pitchFamily="34" charset="-122"/>
                <a:cs typeface="IBM Plex Sans" pitchFamily="34" charset="-120"/>
              </a:rPr>
              <a:t>Đồ thị co lại qua bốn vòng</a:t>
            </a:r>
            <a:endParaRPr lang="en-US" sz="2600" dirty="0"/>
          </a:p>
        </p:txBody>
      </p:sp>
      <p:sp>
        <p:nvSpPr>
          <p:cNvPr id="4" name="Shape 2"/>
          <p:cNvSpPr/>
          <p:nvPr/>
        </p:nvSpPr>
        <p:spPr>
          <a:xfrm>
            <a:off x="819150" y="1666242"/>
            <a:ext cx="5194300" cy="1892300"/>
          </a:xfrm>
          <a:prstGeom prst="roundRect">
            <a:avLst>
              <a:gd name="adj" fmla="val 5034"/>
            </a:avLst>
          </a:prstGeom>
          <a:solidFill>
            <a:srgbClr val="FCFBF7"/>
          </a:solidFill>
          <a:ln w="12700">
            <a:solidFill>
              <a:srgbClr val="DDD9CC"/>
            </a:solidFill>
            <a:prstDash val="solid"/>
          </a:ln>
        </p:spPr>
      </p:sp>
      <p:sp>
        <p:nvSpPr>
          <p:cNvPr id="5" name="Text 3"/>
          <p:cNvSpPr/>
          <p:nvPr/>
        </p:nvSpPr>
        <p:spPr>
          <a:xfrm>
            <a:off x="965200" y="1748792"/>
            <a:ext cx="503618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Trước vòng 1: 5 đỉnh</a:t>
            </a:r>
            <a:endParaRPr lang="en-US" sz="1400" dirty="0"/>
          </a:p>
        </p:txBody>
      </p:sp>
      <p:pic>
        <p:nvPicPr>
          <p:cNvPr id="6" name="Image 0" descr="connector">    </p:cNvPr>
          <p:cNvPicPr>
            <a:picLocks noChangeAspect="1"/>
          </p:cNvPicPr>
          <p:nvPr/>
        </p:nvPicPr>
        <p:blipFill>
          <a:blip r:embed="rId1"/>
          <a:srcRect l="0" r="0" t="0" b="0"/>
          <a:stretch/>
        </p:blipFill>
        <p:spPr>
          <a:xfrm>
            <a:off x="1593850" y="2771142"/>
            <a:ext cx="501650" cy="190500"/>
          </a:xfrm>
          <a:prstGeom prst="rect">
            <a:avLst/>
          </a:prstGeom>
        </p:spPr>
      </p:pic>
      <p:pic>
        <p:nvPicPr>
          <p:cNvPr id="7" name="Image 1" descr="connector">    </p:cNvPr>
          <p:cNvPicPr>
            <a:picLocks noChangeAspect="1"/>
          </p:cNvPicPr>
          <p:nvPr/>
        </p:nvPicPr>
        <p:blipFill>
          <a:blip r:embed="rId2"/>
          <a:srcRect l="0" r="0" t="0" b="0"/>
          <a:stretch/>
        </p:blipFill>
        <p:spPr>
          <a:xfrm>
            <a:off x="2736850" y="2802892"/>
            <a:ext cx="438150" cy="127000"/>
          </a:xfrm>
          <a:prstGeom prst="rect">
            <a:avLst/>
          </a:prstGeom>
        </p:spPr>
      </p:pic>
      <p:pic>
        <p:nvPicPr>
          <p:cNvPr id="8" name="Image 2" descr="connector">    </p:cNvPr>
          <p:cNvPicPr>
            <a:picLocks noChangeAspect="1"/>
          </p:cNvPicPr>
          <p:nvPr/>
        </p:nvPicPr>
        <p:blipFill>
          <a:blip r:embed="rId3"/>
          <a:srcRect l="0" r="0" t="0" b="0"/>
          <a:stretch/>
        </p:blipFill>
        <p:spPr>
          <a:xfrm>
            <a:off x="3841750" y="2447292"/>
            <a:ext cx="387350" cy="266700"/>
          </a:xfrm>
          <a:prstGeom prst="rect">
            <a:avLst/>
          </a:prstGeom>
        </p:spPr>
      </p:pic>
      <p:pic>
        <p:nvPicPr>
          <p:cNvPr id="9" name="Image 3" descr="connector">    </p:cNvPr>
          <p:cNvPicPr>
            <a:picLocks noChangeAspect="1"/>
          </p:cNvPicPr>
          <p:nvPr/>
        </p:nvPicPr>
        <p:blipFill>
          <a:blip r:embed="rId4"/>
          <a:srcRect l="0" r="0" t="0" b="0"/>
          <a:stretch/>
        </p:blipFill>
        <p:spPr>
          <a:xfrm>
            <a:off x="4870450" y="2447292"/>
            <a:ext cx="361950" cy="266700"/>
          </a:xfrm>
          <a:prstGeom prst="rect">
            <a:avLst/>
          </a:prstGeom>
        </p:spPr>
      </p:pic>
      <p:pic>
        <p:nvPicPr>
          <p:cNvPr id="10" name="Image 4" descr="connector">    </p:cNvPr>
          <p:cNvPicPr>
            <a:picLocks noChangeAspect="1"/>
          </p:cNvPicPr>
          <p:nvPr/>
        </p:nvPicPr>
        <p:blipFill>
          <a:blip r:embed="rId5"/>
          <a:srcRect l="0" r="0" t="0" b="0"/>
          <a:stretch/>
        </p:blipFill>
        <p:spPr>
          <a:xfrm>
            <a:off x="3848100" y="2802892"/>
            <a:ext cx="1358900" cy="127000"/>
          </a:xfrm>
          <a:prstGeom prst="rect">
            <a:avLst/>
          </a:prstGeom>
        </p:spPr>
      </p:pic>
      <p:sp>
        <p:nvSpPr>
          <p:cNvPr id="11" name="Text 4"/>
          <p:cNvSpPr/>
          <p:nvPr/>
        </p:nvSpPr>
        <p:spPr>
          <a:xfrm>
            <a:off x="946150" y="2707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AAA</a:t>
            </a:r>
            <a:endParaRPr lang="en-US" sz="1300" dirty="0"/>
          </a:p>
        </p:txBody>
      </p:sp>
      <p:sp>
        <p:nvSpPr>
          <p:cNvPr id="12" name="Text 5"/>
          <p:cNvSpPr/>
          <p:nvPr/>
        </p:nvSpPr>
        <p:spPr>
          <a:xfrm>
            <a:off x="2057400" y="2707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AAB</a:t>
            </a:r>
            <a:endParaRPr lang="en-US" sz="1300" dirty="0"/>
          </a:p>
        </p:txBody>
      </p:sp>
      <p:sp>
        <p:nvSpPr>
          <p:cNvPr id="13" name="Text 6"/>
          <p:cNvSpPr/>
          <p:nvPr/>
        </p:nvSpPr>
        <p:spPr>
          <a:xfrm>
            <a:off x="3168650" y="2707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ABB</a:t>
            </a:r>
            <a:endParaRPr lang="en-US" sz="1300" dirty="0"/>
          </a:p>
        </p:txBody>
      </p:sp>
      <p:sp>
        <p:nvSpPr>
          <p:cNvPr id="14" name="Text 7"/>
          <p:cNvSpPr/>
          <p:nvPr/>
        </p:nvSpPr>
        <p:spPr>
          <a:xfrm>
            <a:off x="4216400" y="21361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BBB</a:t>
            </a:r>
            <a:endParaRPr lang="en-US" sz="1300" dirty="0"/>
          </a:p>
        </p:txBody>
      </p:sp>
      <p:sp>
        <p:nvSpPr>
          <p:cNvPr id="15" name="Text 8"/>
          <p:cNvSpPr/>
          <p:nvPr/>
        </p:nvSpPr>
        <p:spPr>
          <a:xfrm>
            <a:off x="5200650" y="2707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BBA</a:t>
            </a:r>
            <a:endParaRPr lang="en-US" sz="1300" dirty="0"/>
          </a:p>
        </p:txBody>
      </p:sp>
      <p:sp>
        <p:nvSpPr>
          <p:cNvPr id="16" name="Text 9"/>
          <p:cNvSpPr/>
          <p:nvPr/>
        </p:nvSpPr>
        <p:spPr>
          <a:xfrm>
            <a:off x="965200" y="3221992"/>
            <a:ext cx="50361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5 cạnh hoà, lấy cạnh cam: gộp AAA, AAB</a:t>
            </a:r>
            <a:endParaRPr lang="en-US" sz="1200" dirty="0"/>
          </a:p>
        </p:txBody>
      </p:sp>
      <p:sp>
        <p:nvSpPr>
          <p:cNvPr id="17" name="Shape 10"/>
          <p:cNvSpPr/>
          <p:nvPr/>
        </p:nvSpPr>
        <p:spPr>
          <a:xfrm>
            <a:off x="6178550" y="1666242"/>
            <a:ext cx="5194300" cy="1892300"/>
          </a:xfrm>
          <a:prstGeom prst="roundRect">
            <a:avLst>
              <a:gd name="adj" fmla="val 5034"/>
            </a:avLst>
          </a:prstGeom>
          <a:solidFill>
            <a:srgbClr val="FCFBF7"/>
          </a:solidFill>
          <a:ln w="12700">
            <a:solidFill>
              <a:srgbClr val="DDD9CC"/>
            </a:solidFill>
            <a:prstDash val="solid"/>
          </a:ln>
        </p:spPr>
      </p:sp>
      <p:sp>
        <p:nvSpPr>
          <p:cNvPr id="18" name="Text 11"/>
          <p:cNvSpPr/>
          <p:nvPr/>
        </p:nvSpPr>
        <p:spPr>
          <a:xfrm>
            <a:off x="6324600" y="1748792"/>
            <a:ext cx="503618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Trước vòng 2: 4 đỉnh</a:t>
            </a:r>
            <a:endParaRPr lang="en-US" sz="1400" dirty="0"/>
          </a:p>
        </p:txBody>
      </p:sp>
      <p:pic>
        <p:nvPicPr>
          <p:cNvPr id="19" name="Image 5" descr="connector">    </p:cNvPr>
          <p:cNvPicPr>
            <a:picLocks noChangeAspect="1"/>
          </p:cNvPicPr>
          <p:nvPr/>
        </p:nvPicPr>
        <p:blipFill>
          <a:blip r:embed="rId6"/>
          <a:srcRect l="0" r="0" t="0" b="0"/>
          <a:stretch/>
        </p:blipFill>
        <p:spPr>
          <a:xfrm>
            <a:off x="7175500" y="2771142"/>
            <a:ext cx="660400" cy="190500"/>
          </a:xfrm>
          <a:prstGeom prst="rect">
            <a:avLst/>
          </a:prstGeom>
        </p:spPr>
      </p:pic>
      <p:pic>
        <p:nvPicPr>
          <p:cNvPr id="20" name="Image 6" descr="connector">    </p:cNvPr>
          <p:cNvPicPr>
            <a:picLocks noChangeAspect="1"/>
          </p:cNvPicPr>
          <p:nvPr/>
        </p:nvPicPr>
        <p:blipFill>
          <a:blip r:embed="rId7"/>
          <a:srcRect l="0" r="0" t="0" b="0"/>
          <a:stretch/>
        </p:blipFill>
        <p:spPr>
          <a:xfrm>
            <a:off x="8477250" y="2402842"/>
            <a:ext cx="660400" cy="355600"/>
          </a:xfrm>
          <a:prstGeom prst="rect">
            <a:avLst/>
          </a:prstGeom>
        </p:spPr>
      </p:pic>
      <p:pic>
        <p:nvPicPr>
          <p:cNvPr id="21" name="Image 7" descr="connector">    </p:cNvPr>
          <p:cNvPicPr>
            <a:picLocks noChangeAspect="1"/>
          </p:cNvPicPr>
          <p:nvPr/>
        </p:nvPicPr>
        <p:blipFill>
          <a:blip r:embed="rId8"/>
          <a:srcRect l="0" r="0" t="0" b="0"/>
          <a:stretch/>
        </p:blipFill>
        <p:spPr>
          <a:xfrm>
            <a:off x="9810750" y="2402842"/>
            <a:ext cx="660400" cy="355600"/>
          </a:xfrm>
          <a:prstGeom prst="rect">
            <a:avLst/>
          </a:prstGeom>
        </p:spPr>
      </p:pic>
      <p:pic>
        <p:nvPicPr>
          <p:cNvPr id="22" name="Image 8" descr="connector">    </p:cNvPr>
          <p:cNvPicPr>
            <a:picLocks noChangeAspect="1"/>
          </p:cNvPicPr>
          <p:nvPr/>
        </p:nvPicPr>
        <p:blipFill>
          <a:blip r:embed="rId9"/>
          <a:srcRect l="0" r="0" t="0" b="0"/>
          <a:stretch/>
        </p:blipFill>
        <p:spPr>
          <a:xfrm>
            <a:off x="8477250" y="2802892"/>
            <a:ext cx="1993900" cy="127000"/>
          </a:xfrm>
          <a:prstGeom prst="rect">
            <a:avLst/>
          </a:prstGeom>
        </p:spPr>
      </p:pic>
      <p:sp>
        <p:nvSpPr>
          <p:cNvPr id="23" name="Text 12"/>
          <p:cNvSpPr/>
          <p:nvPr/>
        </p:nvSpPr>
        <p:spPr>
          <a:xfrm>
            <a:off x="6400800" y="2707642"/>
            <a:ext cx="812800" cy="337820"/>
          </a:xfrm>
          <a:custGeom>
            <a:avLst/>
            <a:gdLst/>
            <a:ahLst/>
            <a:cxnLst/>
            <a:rect l="l" t="t" r="r" b="b"/>
            <a:pathLst>
              <a:path w="812800" h="337820">
                <a:moveTo>
                  <a:pt x="82550" y="0"/>
                </a:moveTo>
                <a:lnTo>
                  <a:pt x="730250" y="0"/>
                </a:lnTo>
                <a:arcTo hR="82550" wR="82550" stAng="16200000" swAng="5400000"/>
                <a:lnTo>
                  <a:pt x="812800" y="255270"/>
                </a:lnTo>
                <a:arcTo hR="82550" wR="82550" stAng="0" swAng="5400000"/>
                <a:lnTo>
                  <a:pt x="82550" y="337820"/>
                </a:lnTo>
                <a:arcTo hR="82550" wR="82550" stAng="5400000" swAng="5400000"/>
                <a:lnTo>
                  <a:pt x="0" y="82550"/>
                </a:lnTo>
                <a:arcTo hR="82550" wR="82550" stAng="10800000" swAng="5400000"/>
                <a:close/>
              </a:path>
            </a:pathLst>
          </a:custGeom>
          <a:solidFill>
            <a:srgbClr val="1F5FBF"/>
          </a:solidFill>
          <a:ln w="12700">
            <a:solidFill>
              <a:srgbClr val="1F5FBF"/>
            </a:solidFill>
            <a:prstDash val="solid"/>
          </a:ln>
        </p:spPr>
        <p:txBody>
          <a:bodyPr wrap="square" lIns="0" tIns="3810" rIns="0" bIns="0" rtlCol="0" anchor="t">
            <a:normAutofit/>
          </a:bodyPr>
          <a:lstStyle/>
          <a:p>
            <a:pPr algn="ctr" indent="0" marL="0">
              <a:lnSpc>
                <a:spcPts val="2600"/>
              </a:lnSpc>
              <a:buNone/>
            </a:pPr>
            <a:r>
              <a:rPr lang="en-US" sz="1300" b="1" dirty="0">
                <a:solidFill>
                  <a:srgbClr val="F7F5EF"/>
                </a:solidFill>
                <a:latin typeface="JetBrains Mono" pitchFamily="49" charset="0"/>
                <a:ea typeface="JetBrains Mono" pitchFamily="49" charset="-122"/>
                <a:cs typeface="JetBrains Mono" pitchFamily="49" charset="-120"/>
              </a:rPr>
              <a:t>AAAB</a:t>
            </a:r>
            <a:endParaRPr lang="en-US" sz="1300" dirty="0"/>
          </a:p>
        </p:txBody>
      </p:sp>
      <p:sp>
        <p:nvSpPr>
          <p:cNvPr id="24" name="Text 13"/>
          <p:cNvSpPr/>
          <p:nvPr/>
        </p:nvSpPr>
        <p:spPr>
          <a:xfrm>
            <a:off x="7797800" y="2707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ABB</a:t>
            </a:r>
            <a:endParaRPr lang="en-US" sz="1300" dirty="0"/>
          </a:p>
        </p:txBody>
      </p:sp>
      <p:sp>
        <p:nvSpPr>
          <p:cNvPr id="25" name="Text 14"/>
          <p:cNvSpPr/>
          <p:nvPr/>
        </p:nvSpPr>
        <p:spPr>
          <a:xfrm>
            <a:off x="9131300" y="21361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BBB</a:t>
            </a:r>
            <a:endParaRPr lang="en-US" sz="1300" dirty="0"/>
          </a:p>
        </p:txBody>
      </p:sp>
      <p:sp>
        <p:nvSpPr>
          <p:cNvPr id="26" name="Text 15"/>
          <p:cNvSpPr/>
          <p:nvPr/>
        </p:nvSpPr>
        <p:spPr>
          <a:xfrm>
            <a:off x="10464800" y="2707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BBA</a:t>
            </a:r>
            <a:endParaRPr lang="en-US" sz="1300" dirty="0"/>
          </a:p>
        </p:txBody>
      </p:sp>
      <p:sp>
        <p:nvSpPr>
          <p:cNvPr id="27" name="Text 16"/>
          <p:cNvSpPr/>
          <p:nvPr/>
        </p:nvSpPr>
        <p:spPr>
          <a:xfrm>
            <a:off x="6324600" y="3221992"/>
            <a:ext cx="50361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4 cạnh hoà, lấy cạnh cam: gộp AAAB, ABB</a:t>
            </a:r>
            <a:endParaRPr lang="en-US" sz="1200" dirty="0"/>
          </a:p>
        </p:txBody>
      </p:sp>
      <p:sp>
        <p:nvSpPr>
          <p:cNvPr id="28" name="Shape 17"/>
          <p:cNvSpPr/>
          <p:nvPr/>
        </p:nvSpPr>
        <p:spPr>
          <a:xfrm>
            <a:off x="819150" y="3723642"/>
            <a:ext cx="5194300" cy="1892300"/>
          </a:xfrm>
          <a:prstGeom prst="roundRect">
            <a:avLst>
              <a:gd name="adj" fmla="val 5034"/>
            </a:avLst>
          </a:prstGeom>
          <a:solidFill>
            <a:srgbClr val="FCFBF7"/>
          </a:solidFill>
          <a:ln w="12700">
            <a:solidFill>
              <a:srgbClr val="DDD9CC"/>
            </a:solidFill>
            <a:prstDash val="solid"/>
          </a:ln>
        </p:spPr>
      </p:sp>
      <p:sp>
        <p:nvSpPr>
          <p:cNvPr id="29" name="Text 18"/>
          <p:cNvSpPr/>
          <p:nvPr/>
        </p:nvSpPr>
        <p:spPr>
          <a:xfrm>
            <a:off x="965200" y="3806192"/>
            <a:ext cx="503618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Trước vòng 3: 3 đỉnh</a:t>
            </a:r>
            <a:endParaRPr lang="en-US" sz="1400" dirty="0"/>
          </a:p>
        </p:txBody>
      </p:sp>
      <p:pic>
        <p:nvPicPr>
          <p:cNvPr id="30" name="Image 9" descr="connector">    </p:cNvPr>
          <p:cNvPicPr>
            <a:picLocks noChangeAspect="1"/>
          </p:cNvPicPr>
          <p:nvPr/>
        </p:nvPicPr>
        <p:blipFill>
          <a:blip r:embed="rId10"/>
          <a:srcRect l="0" r="0" t="0" b="0"/>
          <a:stretch/>
        </p:blipFill>
        <p:spPr>
          <a:xfrm>
            <a:off x="2038350" y="4364992"/>
            <a:ext cx="1041400" cy="457200"/>
          </a:xfrm>
          <a:prstGeom prst="rect">
            <a:avLst/>
          </a:prstGeom>
        </p:spPr>
      </p:pic>
      <p:pic>
        <p:nvPicPr>
          <p:cNvPr id="31" name="Image 10" descr="connector">    </p:cNvPr>
          <p:cNvPicPr>
            <a:picLocks noChangeAspect="1"/>
          </p:cNvPicPr>
          <p:nvPr/>
        </p:nvPicPr>
        <p:blipFill>
          <a:blip r:embed="rId11"/>
          <a:srcRect l="0" r="0" t="0" b="0"/>
          <a:stretch/>
        </p:blipFill>
        <p:spPr>
          <a:xfrm>
            <a:off x="3752850" y="4364992"/>
            <a:ext cx="1104900" cy="482600"/>
          </a:xfrm>
          <a:prstGeom prst="rect">
            <a:avLst/>
          </a:prstGeom>
        </p:spPr>
      </p:pic>
      <p:pic>
        <p:nvPicPr>
          <p:cNvPr id="32" name="Image 11" descr="connector">    </p:cNvPr>
          <p:cNvPicPr>
            <a:picLocks noChangeAspect="1"/>
          </p:cNvPicPr>
          <p:nvPr/>
        </p:nvPicPr>
        <p:blipFill>
          <a:blip r:embed="rId12"/>
          <a:srcRect l="0" r="0" t="0" b="0"/>
          <a:stretch/>
        </p:blipFill>
        <p:spPr>
          <a:xfrm>
            <a:off x="2006600" y="4828542"/>
            <a:ext cx="2882900" cy="190500"/>
          </a:xfrm>
          <a:prstGeom prst="rect">
            <a:avLst/>
          </a:prstGeom>
        </p:spPr>
      </p:pic>
      <p:sp>
        <p:nvSpPr>
          <p:cNvPr id="33" name="Text 19"/>
          <p:cNvSpPr/>
          <p:nvPr/>
        </p:nvSpPr>
        <p:spPr>
          <a:xfrm>
            <a:off x="1231900" y="4765042"/>
            <a:ext cx="812800" cy="337820"/>
          </a:xfrm>
          <a:custGeom>
            <a:avLst/>
            <a:gdLst/>
            <a:ahLst/>
            <a:cxnLst/>
            <a:rect l="l" t="t" r="r" b="b"/>
            <a:pathLst>
              <a:path w="812800" h="337820">
                <a:moveTo>
                  <a:pt x="82550" y="0"/>
                </a:moveTo>
                <a:lnTo>
                  <a:pt x="730250" y="0"/>
                </a:lnTo>
                <a:arcTo hR="82550" wR="82550" stAng="16200000" swAng="5400000"/>
                <a:lnTo>
                  <a:pt x="812800" y="255270"/>
                </a:lnTo>
                <a:arcTo hR="82550" wR="82550" stAng="0" swAng="5400000"/>
                <a:lnTo>
                  <a:pt x="82550" y="337820"/>
                </a:lnTo>
                <a:arcTo hR="82550" wR="82550" stAng="5400000" swAng="5400000"/>
                <a:lnTo>
                  <a:pt x="0" y="82550"/>
                </a:lnTo>
                <a:arcTo hR="82550" wR="82550" stAng="10800000" swAng="5400000"/>
                <a:close/>
              </a:path>
            </a:pathLst>
          </a:custGeom>
          <a:solidFill>
            <a:srgbClr val="1F5FBF"/>
          </a:solidFill>
          <a:ln w="12700">
            <a:solidFill>
              <a:srgbClr val="1F5FBF"/>
            </a:solidFill>
            <a:prstDash val="solid"/>
          </a:ln>
        </p:spPr>
        <p:txBody>
          <a:bodyPr wrap="square" lIns="0" tIns="3810" rIns="0" bIns="0" rtlCol="0" anchor="t">
            <a:normAutofit/>
          </a:bodyPr>
          <a:lstStyle/>
          <a:p>
            <a:pPr algn="ctr" indent="0" marL="0">
              <a:lnSpc>
                <a:spcPts val="2600"/>
              </a:lnSpc>
              <a:buNone/>
            </a:pPr>
            <a:r>
              <a:rPr lang="en-US" sz="1300" b="1" dirty="0">
                <a:solidFill>
                  <a:srgbClr val="F7F5EF"/>
                </a:solidFill>
                <a:latin typeface="JetBrains Mono" pitchFamily="49" charset="0"/>
                <a:ea typeface="JetBrains Mono" pitchFamily="49" charset="-122"/>
                <a:cs typeface="JetBrains Mono" pitchFamily="49" charset="-120"/>
              </a:rPr>
              <a:t>AAABB</a:t>
            </a:r>
            <a:endParaRPr lang="en-US" sz="1300" dirty="0"/>
          </a:p>
        </p:txBody>
      </p:sp>
      <p:sp>
        <p:nvSpPr>
          <p:cNvPr id="34" name="Text 20"/>
          <p:cNvSpPr/>
          <p:nvPr/>
        </p:nvSpPr>
        <p:spPr>
          <a:xfrm>
            <a:off x="3073400" y="41300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BBB</a:t>
            </a:r>
            <a:endParaRPr lang="en-US" sz="1300" dirty="0"/>
          </a:p>
        </p:txBody>
      </p:sp>
      <p:sp>
        <p:nvSpPr>
          <p:cNvPr id="35" name="Text 21"/>
          <p:cNvSpPr/>
          <p:nvPr/>
        </p:nvSpPr>
        <p:spPr>
          <a:xfrm>
            <a:off x="4851400" y="47650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BBA</a:t>
            </a:r>
            <a:endParaRPr lang="en-US" sz="1300" dirty="0"/>
          </a:p>
        </p:txBody>
      </p:sp>
      <p:sp>
        <p:nvSpPr>
          <p:cNvPr id="36" name="Text 22"/>
          <p:cNvSpPr/>
          <p:nvPr/>
        </p:nvSpPr>
        <p:spPr>
          <a:xfrm>
            <a:off x="965200" y="5279392"/>
            <a:ext cx="50361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3 cạnh hoà, lấy cạnh cam: gộp AAABB, BBA</a:t>
            </a:r>
            <a:endParaRPr lang="en-US" sz="1200" dirty="0"/>
          </a:p>
        </p:txBody>
      </p:sp>
      <p:sp>
        <p:nvSpPr>
          <p:cNvPr id="37" name="Shape 23"/>
          <p:cNvSpPr/>
          <p:nvPr/>
        </p:nvSpPr>
        <p:spPr>
          <a:xfrm>
            <a:off x="6178550" y="3723642"/>
            <a:ext cx="5194300" cy="1892300"/>
          </a:xfrm>
          <a:prstGeom prst="roundRect">
            <a:avLst>
              <a:gd name="adj" fmla="val 5034"/>
            </a:avLst>
          </a:prstGeom>
          <a:solidFill>
            <a:srgbClr val="FCFBF7"/>
          </a:solidFill>
          <a:ln w="12700">
            <a:solidFill>
              <a:srgbClr val="DDD9CC"/>
            </a:solidFill>
            <a:prstDash val="solid"/>
          </a:ln>
        </p:spPr>
      </p:sp>
      <p:sp>
        <p:nvSpPr>
          <p:cNvPr id="38" name="Text 24"/>
          <p:cNvSpPr/>
          <p:nvPr/>
        </p:nvSpPr>
        <p:spPr>
          <a:xfrm>
            <a:off x="6324600" y="3806192"/>
            <a:ext cx="503618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Trước vòng 4: 2 đỉnh</a:t>
            </a:r>
            <a:endParaRPr lang="en-US" sz="1400" dirty="0"/>
          </a:p>
        </p:txBody>
      </p:sp>
      <p:sp>
        <p:nvSpPr>
          <p:cNvPr id="39" name="Text 25"/>
          <p:cNvSpPr/>
          <p:nvPr/>
        </p:nvSpPr>
        <p:spPr>
          <a:xfrm>
            <a:off x="7194550" y="4638042"/>
            <a:ext cx="939800" cy="337820"/>
          </a:xfrm>
          <a:custGeom>
            <a:avLst/>
            <a:gdLst/>
            <a:ahLst/>
            <a:cxnLst/>
            <a:rect l="l" t="t" r="r" b="b"/>
            <a:pathLst>
              <a:path w="939800" h="337820">
                <a:moveTo>
                  <a:pt x="82550" y="0"/>
                </a:moveTo>
                <a:lnTo>
                  <a:pt x="857250" y="0"/>
                </a:lnTo>
                <a:arcTo hR="82550" wR="82550" stAng="16200000" swAng="5400000"/>
                <a:lnTo>
                  <a:pt x="939800" y="255270"/>
                </a:lnTo>
                <a:arcTo hR="82550" wR="82550" stAng="0" swAng="5400000"/>
                <a:lnTo>
                  <a:pt x="82550" y="337820"/>
                </a:lnTo>
                <a:arcTo hR="82550" wR="82550" stAng="5400000" swAng="5400000"/>
                <a:lnTo>
                  <a:pt x="0" y="82550"/>
                </a:lnTo>
                <a:arcTo hR="82550" wR="82550" stAng="10800000" swAng="5400000"/>
                <a:close/>
              </a:path>
            </a:pathLst>
          </a:custGeom>
          <a:solidFill>
            <a:srgbClr val="1F5FBF"/>
          </a:solidFill>
          <a:ln w="12700">
            <a:solidFill>
              <a:srgbClr val="1F5FBF"/>
            </a:solidFill>
            <a:prstDash val="solid"/>
          </a:ln>
        </p:spPr>
        <p:txBody>
          <a:bodyPr wrap="square" lIns="0" tIns="3810" rIns="0" bIns="0" rtlCol="0" anchor="t">
            <a:normAutofit/>
          </a:bodyPr>
          <a:lstStyle/>
          <a:p>
            <a:pPr algn="ctr" indent="0" marL="0">
              <a:lnSpc>
                <a:spcPts val="2600"/>
              </a:lnSpc>
              <a:buNone/>
            </a:pPr>
            <a:r>
              <a:rPr lang="en-US" sz="1300" b="1" dirty="0">
                <a:solidFill>
                  <a:srgbClr val="F7F5EF"/>
                </a:solidFill>
                <a:latin typeface="JetBrains Mono" pitchFamily="49" charset="0"/>
                <a:ea typeface="JetBrains Mono" pitchFamily="49" charset="-122"/>
                <a:cs typeface="JetBrains Mono" pitchFamily="49" charset="-120"/>
              </a:rPr>
              <a:t>AAABBA</a:t>
            </a:r>
            <a:endParaRPr lang="en-US" sz="1300" dirty="0"/>
          </a:p>
        </p:txBody>
      </p:sp>
      <p:sp>
        <p:nvSpPr>
          <p:cNvPr id="40" name="Text 26"/>
          <p:cNvSpPr/>
          <p:nvPr/>
        </p:nvSpPr>
        <p:spPr>
          <a:xfrm>
            <a:off x="9734550" y="46380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F7F5EF"/>
          </a:solidFill>
          <a:ln w="12700">
            <a:solidFill>
              <a:srgbClr val="7C8794"/>
            </a:solidFill>
            <a:prstDash val="dash"/>
          </a:ln>
        </p:spPr>
        <p:txBody>
          <a:bodyPr wrap="square" lIns="0" tIns="3810" rIns="0" bIns="0" rtlCol="0" anchor="t">
            <a:normAutofit/>
          </a:bodyPr>
          <a:lstStyle/>
          <a:p>
            <a:pPr algn="ctr" indent="0" marL="0">
              <a:lnSpc>
                <a:spcPts val="2600"/>
              </a:lnSpc>
              <a:buNone/>
            </a:pPr>
            <a:r>
              <a:rPr lang="en-US" sz="1300" b="1" dirty="0">
                <a:solidFill>
                  <a:srgbClr val="5A6573"/>
                </a:solidFill>
                <a:latin typeface="JetBrains Mono" pitchFamily="49" charset="0"/>
                <a:ea typeface="JetBrains Mono" pitchFamily="49" charset="-122"/>
                <a:cs typeface="JetBrains Mono" pitchFamily="49" charset="-120"/>
              </a:rPr>
              <a:t>BBB</a:t>
            </a:r>
            <a:endParaRPr lang="en-US" sz="1300" dirty="0"/>
          </a:p>
        </p:txBody>
      </p:sp>
      <p:sp>
        <p:nvSpPr>
          <p:cNvPr id="41" name="Text 27"/>
          <p:cNvSpPr/>
          <p:nvPr/>
        </p:nvSpPr>
        <p:spPr>
          <a:xfrm>
            <a:off x="6324600" y="5279392"/>
            <a:ext cx="50361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3"/>
                </a:solidFill>
                <a:latin typeface="IBM Plex Sans" pitchFamily="34" charset="0"/>
                <a:ea typeface="IBM Plex Sans" pitchFamily="34" charset="-122"/>
                <a:cs typeface="IBM Plex Sans" pitchFamily="34" charset="-120"/>
              </a:rPr>
              <a:t>Hết cạnh: nối đuôi, được AAABBABBB (9 ký tự)</a:t>
            </a:r>
            <a:endParaRPr lang="en-US" sz="1200" dirty="0"/>
          </a:p>
        </p:txBody>
      </p:sp>
      <p:sp>
        <p:nvSpPr>
          <p:cNvPr id="42" name="Text 28"/>
          <p:cNvSpPr/>
          <p:nvPr/>
        </p:nvSpPr>
        <p:spPr>
          <a:xfrm>
            <a:off x="9226550" y="844550"/>
            <a:ext cx="2146300" cy="322580"/>
          </a:xfrm>
          <a:custGeom>
            <a:avLst/>
            <a:gdLst/>
            <a:ahLst/>
            <a:cxnLst/>
            <a:rect l="l" t="t" r="r" b="b"/>
            <a:pathLst>
              <a:path w="2146300" h="322580">
                <a:moveTo>
                  <a:pt x="161290" y="0"/>
                </a:moveTo>
                <a:lnTo>
                  <a:pt x="1985010" y="0"/>
                </a:lnTo>
                <a:arcTo hR="161290" wR="161290" stAng="16200000" swAng="5400000"/>
                <a:lnTo>
                  <a:pt x="2146300" y="161290"/>
                </a:lnTo>
                <a:arcTo hR="161290" wR="161290" stAng="0" swAng="5400000"/>
                <a:lnTo>
                  <a:pt x="161290" y="322580"/>
                </a:lnTo>
                <a:arcTo hR="161290" wR="161290" stAng="5400000" swAng="5400000"/>
                <a:lnTo>
                  <a:pt x="0" y="161290"/>
                </a:lnTo>
                <a:arcTo hR="161290" wR="161290" stAng="10800000" swAng="5400000"/>
                <a:close/>
              </a:path>
            </a:pathLst>
          </a:custGeom>
          <a:solidFill>
            <a:srgbClr val="FBE3D3"/>
          </a:solidFill>
          <a:ln w="12700">
            <a:solidFill>
              <a:srgbClr val="B8460F"/>
            </a:solidFill>
            <a:prstDash val="solid"/>
          </a:ln>
        </p:spPr>
        <p:txBody>
          <a:bodyPr wrap="square" lIns="0" tIns="54610" rIns="0" bIns="29210" rtlCol="0" anchor="t">
            <a:normAutofit/>
          </a:bodyPr>
          <a:lstStyle/>
          <a:p>
            <a:pPr algn="ctr" indent="0" marL="0">
              <a:lnSpc>
                <a:spcPts val="1680"/>
              </a:lnSpc>
              <a:buNone/>
            </a:pPr>
            <a:r>
              <a:rPr lang="en-US" sz="1200" b="1" spc="100" kern="0" dirty="0">
                <a:solidFill>
                  <a:srgbClr val="8F3508"/>
                </a:solidFill>
                <a:latin typeface="IBM Plex Sans" pitchFamily="34" charset="0"/>
                <a:ea typeface="IBM Plex Sans" pitchFamily="34" charset="-122"/>
                <a:cs typeface="IBM Plex Sans" pitchFamily="34" charset="-120"/>
              </a:rPr>
              <a:t>CÁCH GIẢI · GREEDY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9226550" y="844550"/>
            <a:ext cx="2146300" cy="322580"/>
          </a:xfrm>
          <a:custGeom>
            <a:avLst/>
            <a:gdLst/>
            <a:ahLst/>
            <a:cxnLst/>
            <a:rect l="l" t="t" r="r" b="b"/>
            <a:pathLst>
              <a:path w="2146300" h="322580">
                <a:moveTo>
                  <a:pt x="161290" y="0"/>
                </a:moveTo>
                <a:lnTo>
                  <a:pt x="1985010" y="0"/>
                </a:lnTo>
                <a:arcTo hR="161290" wR="161290" stAng="16200000" swAng="5400000"/>
                <a:lnTo>
                  <a:pt x="2146300" y="161290"/>
                </a:lnTo>
                <a:arcTo hR="161290" wR="161290" stAng="0" swAng="5400000"/>
                <a:lnTo>
                  <a:pt x="161290" y="322580"/>
                </a:lnTo>
                <a:arcTo hR="161290" wR="161290" stAng="5400000" swAng="5400000"/>
                <a:lnTo>
                  <a:pt x="0" y="161290"/>
                </a:lnTo>
                <a:arcTo hR="161290" wR="161290" stAng="10800000" swAng="5400000"/>
                <a:close/>
              </a:path>
            </a:pathLst>
          </a:custGeom>
          <a:solidFill>
            <a:srgbClr val="F2A65A"/>
          </a:solidFill>
          <a:ln w="12700">
            <a:solidFill>
              <a:srgbClr val="F2A65A"/>
            </a:solidFill>
            <a:prstDash val="solid"/>
          </a:ln>
        </p:spPr>
        <p:txBody>
          <a:bodyPr wrap="square" lIns="0" tIns="54610" rIns="0" bIns="29210" rtlCol="0" anchor="t">
            <a:normAutofit/>
          </a:bodyPr>
          <a:lstStyle/>
          <a:p>
            <a:pPr algn="ctr" indent="0" marL="0">
              <a:lnSpc>
                <a:spcPts val="1680"/>
              </a:lnSpc>
              <a:buNone/>
            </a:pPr>
            <a:r>
              <a:rPr lang="en-US" sz="1200" b="1" spc="100" kern="0" dirty="0">
                <a:solidFill>
                  <a:srgbClr val="14213D"/>
                </a:solidFill>
                <a:latin typeface="IBM Plex Sans" pitchFamily="34" charset="0"/>
                <a:ea typeface="IBM Plex Sans" pitchFamily="34" charset="-122"/>
                <a:cs typeface="IBM Plex Sans" pitchFamily="34" charset="-120"/>
              </a:rPr>
              <a:t>CÁCH GIẢI · GREEDY</a:t>
            </a:r>
            <a:endParaRPr lang="en-US" sz="12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IBM Plex Sans" pitchFamily="34" charset="0"/>
                <a:ea typeface="IBM Plex Sans" pitchFamily="34" charset="-122"/>
                <a:cs typeface="IBM Plex Sans" pitchFamily="34" charset="-120"/>
              </a:rPr>
              <a:t>VÍ DỤ · SO SÁNH</a:t>
            </a:r>
            <a:endParaRPr lang="en-US" sz="1200" dirty="0"/>
          </a:p>
        </p:txBody>
      </p:sp>
      <p:sp>
        <p:nvSpPr>
          <p:cNvPr id="4" name="Text 2"/>
          <p:cNvSpPr/>
          <p:nvPr>
            <p:ph type="title"/>
          </p:nvPr>
        </p:nvSpPr>
        <p:spPr>
          <a:xfrm>
            <a:off x="812800" y="10769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F3F1EA"/>
                </a:solidFill>
                <a:latin typeface="IBM Plex Sans" pitchFamily="34" charset="0"/>
                <a:ea typeface="IBM Plex Sans" pitchFamily="34" charset="-122"/>
                <a:cs typeface="IBM Plex Sans" pitchFamily="34" charset="-120"/>
              </a:rPr>
              <a:t>Cùng đầu vào, hai cách xử lý hoà</a:t>
            </a:r>
            <a:endParaRPr lang="en-US" sz="2600" dirty="0"/>
          </a:p>
        </p:txBody>
      </p:sp>
      <p:sp>
        <p:nvSpPr>
          <p:cNvPr id="5" name="Shape 3"/>
          <p:cNvSpPr/>
          <p:nvPr/>
        </p:nvSpPr>
        <p:spPr>
          <a:xfrm>
            <a:off x="819150" y="1663700"/>
            <a:ext cx="5168900" cy="3009900"/>
          </a:xfrm>
          <a:prstGeom prst="roundRect">
            <a:avLst>
              <a:gd name="adj" fmla="val 3165"/>
            </a:avLst>
          </a:prstGeom>
          <a:solidFill>
            <a:srgbClr val="1D2E52"/>
          </a:solidFill>
          <a:ln w="12700">
            <a:solidFill>
              <a:srgbClr val="4A5F8F"/>
            </a:solidFill>
            <a:prstDash val="solid"/>
          </a:ln>
        </p:spPr>
      </p:sp>
      <p:sp>
        <p:nvSpPr>
          <p:cNvPr id="6" name="Text 4"/>
          <p:cNvSpPr/>
          <p:nvPr/>
        </p:nvSpPr>
        <p:spPr>
          <a:xfrm>
            <a:off x="1076960" y="1921514"/>
            <a:ext cx="479287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9D3E6"/>
                </a:solidFill>
                <a:latin typeface="IBM Plex Sans" pitchFamily="34" charset="0"/>
                <a:ea typeface="IBM Plex Sans" pitchFamily="34" charset="-122"/>
                <a:cs typeface="IBM Plex Sans" pitchFamily="34" charset="-120"/>
              </a:rPr>
              <a:t>Vòng 3: AAABB + BBA</a:t>
            </a:r>
            <a:endParaRPr lang="en-US" sz="1600" dirty="0"/>
          </a:p>
        </p:txBody>
      </p:sp>
      <p:sp>
        <p:nvSpPr>
          <p:cNvPr id="7" name="Text 5"/>
          <p:cNvSpPr/>
          <p:nvPr/>
        </p:nvSpPr>
        <p:spPr>
          <a:xfrm>
            <a:off x="1076960" y="2292350"/>
            <a:ext cx="479287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6"/>
                </a:solidFill>
                <a:latin typeface="IBM Plex Sans" pitchFamily="34" charset="0"/>
                <a:ea typeface="IBM Plex Sans" pitchFamily="34" charset="-122"/>
                <a:cs typeface="IBM Plex Sans" pitchFamily="34" charset="-120"/>
              </a:rPr>
              <a:t>BBB bị bỏ lại và phải nối đuôi ở vòng 4.</a:t>
            </a:r>
            <a:endParaRPr lang="en-US" sz="1400" dirty="0"/>
          </a:p>
        </p:txBody>
      </p:sp>
      <p:sp>
        <p:nvSpPr>
          <p:cNvPr id="8" name="Text 6"/>
          <p:cNvSpPr/>
          <p:nvPr/>
        </p:nvSpPr>
        <p:spPr>
          <a:xfrm>
            <a:off x="1076960" y="2668271"/>
            <a:ext cx="4792878"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3F1EA"/>
                </a:solidFill>
                <a:latin typeface="JetBrains Mono" pitchFamily="49" charset="0"/>
                <a:ea typeface="JetBrains Mono" pitchFamily="49" charset="-122"/>
                <a:cs typeface="JetBrains Mono" pitchFamily="49" charset="-120"/>
              </a:rPr>
              <a:t>AAABBABBB</a:t>
            </a:r>
            <a:endParaRPr lang="en-US" sz="1800" dirty="0"/>
          </a:p>
        </p:txBody>
      </p:sp>
      <p:sp>
        <p:nvSpPr>
          <p:cNvPr id="9" name="Text 7"/>
          <p:cNvSpPr/>
          <p:nvPr/>
        </p:nvSpPr>
        <p:spPr>
          <a:xfrm>
            <a:off x="1076960" y="3115314"/>
            <a:ext cx="4792878"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2A65A"/>
                </a:solidFill>
                <a:latin typeface="IBM Plex Sans" pitchFamily="34" charset="0"/>
                <a:ea typeface="IBM Plex Sans" pitchFamily="34" charset="-122"/>
                <a:cs typeface="IBM Plex Sans" pitchFamily="34" charset="-120"/>
              </a:rPr>
              <a:t>9</a:t>
            </a:r>
            <a:endParaRPr lang="en-US" sz="4800" dirty="0"/>
          </a:p>
        </p:txBody>
      </p:sp>
      <p:sp>
        <p:nvSpPr>
          <p:cNvPr id="10" name="Text 8"/>
          <p:cNvSpPr/>
          <p:nvPr/>
        </p:nvSpPr>
        <p:spPr>
          <a:xfrm>
            <a:off x="1076960" y="3912871"/>
            <a:ext cx="479287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6"/>
                </a:solidFill>
                <a:latin typeface="IBM Plex Sans" pitchFamily="34" charset="0"/>
                <a:ea typeface="IBM Plex Sans" pitchFamily="34" charset="-122"/>
                <a:cs typeface="IBM Plex Sans" pitchFamily="34" charset="-120"/>
              </a:rPr>
              <a:t>ký tự, chưa tối ưu</a:t>
            </a:r>
            <a:endParaRPr lang="en-US" sz="1400" dirty="0"/>
          </a:p>
        </p:txBody>
      </p:sp>
      <p:sp>
        <p:nvSpPr>
          <p:cNvPr id="11" name="Shape 9"/>
          <p:cNvSpPr/>
          <p:nvPr/>
        </p:nvSpPr>
        <p:spPr>
          <a:xfrm>
            <a:off x="6203950" y="1663700"/>
            <a:ext cx="5168900" cy="3009900"/>
          </a:xfrm>
          <a:prstGeom prst="roundRect">
            <a:avLst>
              <a:gd name="adj" fmla="val 3165"/>
            </a:avLst>
          </a:prstGeom>
          <a:solidFill>
            <a:srgbClr val="1D2E52"/>
          </a:solidFill>
          <a:ln w="12700">
            <a:solidFill>
              <a:srgbClr val="4A5F8F"/>
            </a:solidFill>
            <a:prstDash val="solid"/>
          </a:ln>
        </p:spPr>
      </p:sp>
      <p:sp>
        <p:nvSpPr>
          <p:cNvPr id="12" name="Text 10"/>
          <p:cNvSpPr/>
          <p:nvPr/>
        </p:nvSpPr>
        <p:spPr>
          <a:xfrm>
            <a:off x="6461760" y="1921514"/>
            <a:ext cx="479287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9D3E6"/>
                </a:solidFill>
                <a:latin typeface="IBM Plex Sans" pitchFamily="34" charset="0"/>
                <a:ea typeface="IBM Plex Sans" pitchFamily="34" charset="-122"/>
                <a:cs typeface="IBM Plex Sans" pitchFamily="34" charset="-120"/>
              </a:rPr>
              <a:t>Vòng 3: AAABB + BBB</a:t>
            </a:r>
            <a:endParaRPr lang="en-US" sz="1600" dirty="0"/>
          </a:p>
        </p:txBody>
      </p:sp>
      <p:sp>
        <p:nvSpPr>
          <p:cNvPr id="13" name="Text 11"/>
          <p:cNvSpPr/>
          <p:nvPr/>
        </p:nvSpPr>
        <p:spPr>
          <a:xfrm>
            <a:off x="6461760" y="2292350"/>
            <a:ext cx="47928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6"/>
                </a:solidFill>
                <a:latin typeface="IBM Plex Sans" pitchFamily="34" charset="0"/>
                <a:ea typeface="IBM Plex Sans" pitchFamily="34" charset="-122"/>
                <a:cs typeface="IBM Plex Sans" pitchFamily="34" charset="-120"/>
              </a:rPr>
              <a:t>Rồi AAABBB + BBA (overlap 2) ở vòng 4. Mọi chuỗi đều được nối bằng overlap.</a:t>
            </a:r>
            <a:endParaRPr lang="en-US" sz="1400" dirty="0"/>
          </a:p>
        </p:txBody>
      </p:sp>
      <p:sp>
        <p:nvSpPr>
          <p:cNvPr id="14" name="Text 12"/>
          <p:cNvSpPr/>
          <p:nvPr/>
        </p:nvSpPr>
        <p:spPr>
          <a:xfrm>
            <a:off x="6461760" y="2917192"/>
            <a:ext cx="4792878"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3F1EA"/>
                </a:solidFill>
                <a:latin typeface="JetBrains Mono" pitchFamily="49" charset="0"/>
                <a:ea typeface="JetBrains Mono" pitchFamily="49" charset="-122"/>
                <a:cs typeface="JetBrains Mono" pitchFamily="49" charset="-120"/>
              </a:rPr>
              <a:t>AAABBBA</a:t>
            </a:r>
            <a:endParaRPr lang="en-US" sz="1800" dirty="0"/>
          </a:p>
        </p:txBody>
      </p:sp>
      <p:sp>
        <p:nvSpPr>
          <p:cNvPr id="15" name="Text 13"/>
          <p:cNvSpPr/>
          <p:nvPr/>
        </p:nvSpPr>
        <p:spPr>
          <a:xfrm>
            <a:off x="6461760" y="3364229"/>
            <a:ext cx="4792878"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8FD3C9"/>
                </a:solidFill>
                <a:latin typeface="IBM Plex Sans" pitchFamily="34" charset="0"/>
                <a:ea typeface="IBM Plex Sans" pitchFamily="34" charset="-122"/>
                <a:cs typeface="IBM Plex Sans" pitchFamily="34" charset="-120"/>
              </a:rPr>
              <a:t>7</a:t>
            </a:r>
            <a:endParaRPr lang="en-US" sz="4800" dirty="0"/>
          </a:p>
        </p:txBody>
      </p:sp>
      <p:sp>
        <p:nvSpPr>
          <p:cNvPr id="16" name="Text 14"/>
          <p:cNvSpPr/>
          <p:nvPr/>
        </p:nvSpPr>
        <p:spPr>
          <a:xfrm>
            <a:off x="6461760" y="4161792"/>
            <a:ext cx="479287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6"/>
                </a:solidFill>
                <a:latin typeface="IBM Plex Sans" pitchFamily="34" charset="0"/>
                <a:ea typeface="IBM Plex Sans" pitchFamily="34" charset="-122"/>
                <a:cs typeface="IBM Plex Sans" pitchFamily="34" charset="-120"/>
              </a:rPr>
              <a:t>ký tự, tối ưu (brute-force 120 hoán vị)</a:t>
            </a:r>
            <a:endParaRPr lang="en-US" sz="1400" dirty="0"/>
          </a:p>
        </p:txBody>
      </p:sp>
      <p:sp>
        <p:nvSpPr>
          <p:cNvPr id="17" name="Text 15"/>
          <p:cNvSpPr/>
          <p:nvPr/>
        </p:nvSpPr>
        <p:spPr>
          <a:xfrm>
            <a:off x="812800" y="488315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Kết luận: greedy có thể sai, và kết quả phụ thuộc vào cách chọn khi hoà.</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VÍ DỤ · ĐỒ THỊ</a:t>
            </a:r>
            <a:endParaRPr lang="en-US" sz="1200" dirty="0"/>
          </a:p>
        </p:txBody>
      </p:sp>
      <p:sp>
        <p:nvSpPr>
          <p:cNvPr id="3" name="Text 1"/>
          <p:cNvSpPr/>
          <p:nvPr>
            <p:ph type="title"/>
          </p:nvPr>
        </p:nvSpPr>
        <p:spPr>
          <a:xfrm>
            <a:off x="812800" y="10769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430"/>
                </a:solidFill>
                <a:latin typeface="IBM Plex Sans" pitchFamily="34" charset="0"/>
                <a:ea typeface="IBM Plex Sans" pitchFamily="34" charset="-122"/>
                <a:cs typeface="IBM Plex Sans" pitchFamily="34" charset="-120"/>
              </a:rPr>
              <a:t>Greedy kẹt, đường đi Hamilton tối ưu</a:t>
            </a:r>
            <a:endParaRPr lang="en-US" sz="2600" dirty="0"/>
          </a:p>
        </p:txBody>
      </p:sp>
      <p:sp>
        <p:nvSpPr>
          <p:cNvPr id="4" name="Shape 2"/>
          <p:cNvSpPr/>
          <p:nvPr/>
        </p:nvSpPr>
        <p:spPr>
          <a:xfrm>
            <a:off x="819150" y="1666242"/>
            <a:ext cx="5194300" cy="2273300"/>
          </a:xfrm>
          <a:prstGeom prst="roundRect">
            <a:avLst>
              <a:gd name="adj" fmla="val 4190"/>
            </a:avLst>
          </a:prstGeom>
          <a:solidFill>
            <a:srgbClr val="FCFBF7"/>
          </a:solidFill>
          <a:ln w="12700">
            <a:solidFill>
              <a:srgbClr val="DDD9CC"/>
            </a:solidFill>
            <a:prstDash val="solid"/>
          </a:ln>
        </p:spPr>
      </p:sp>
      <p:sp>
        <p:nvSpPr>
          <p:cNvPr id="5" name="Text 3"/>
          <p:cNvSpPr/>
          <p:nvPr/>
        </p:nvSpPr>
        <p:spPr>
          <a:xfrm>
            <a:off x="965200" y="1748792"/>
            <a:ext cx="503618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Greedy (heuristic): bỏ sót BBB</a:t>
            </a:r>
            <a:endParaRPr lang="en-US" sz="1400" dirty="0"/>
          </a:p>
        </p:txBody>
      </p:sp>
      <p:pic>
        <p:nvPicPr>
          <p:cNvPr id="6" name="Image 0" descr="connector">    </p:cNvPr>
          <p:cNvPicPr>
            <a:picLocks noChangeAspect="1"/>
          </p:cNvPicPr>
          <p:nvPr/>
        </p:nvPicPr>
        <p:blipFill>
          <a:blip r:embed="rId1"/>
          <a:srcRect l="0" r="0" t="0" b="0"/>
          <a:stretch/>
        </p:blipFill>
        <p:spPr>
          <a:xfrm>
            <a:off x="1593850" y="3025142"/>
            <a:ext cx="501650" cy="190500"/>
          </a:xfrm>
          <a:prstGeom prst="rect">
            <a:avLst/>
          </a:prstGeom>
        </p:spPr>
      </p:pic>
      <p:pic>
        <p:nvPicPr>
          <p:cNvPr id="7" name="Image 1" descr="connector">    </p:cNvPr>
          <p:cNvPicPr>
            <a:picLocks noChangeAspect="1"/>
          </p:cNvPicPr>
          <p:nvPr/>
        </p:nvPicPr>
        <p:blipFill>
          <a:blip r:embed="rId2"/>
          <a:srcRect l="0" r="0" t="0" b="0"/>
          <a:stretch/>
        </p:blipFill>
        <p:spPr>
          <a:xfrm>
            <a:off x="2705100" y="3025142"/>
            <a:ext cx="501650" cy="190500"/>
          </a:xfrm>
          <a:prstGeom prst="rect">
            <a:avLst/>
          </a:prstGeom>
        </p:spPr>
      </p:pic>
      <p:pic>
        <p:nvPicPr>
          <p:cNvPr id="8" name="Image 2" descr="connector">    </p:cNvPr>
          <p:cNvPicPr>
            <a:picLocks noChangeAspect="1"/>
          </p:cNvPicPr>
          <p:nvPr/>
        </p:nvPicPr>
        <p:blipFill>
          <a:blip r:embed="rId3"/>
          <a:srcRect l="0" r="0" t="0" b="0"/>
          <a:stretch/>
        </p:blipFill>
        <p:spPr>
          <a:xfrm>
            <a:off x="3854450" y="2713992"/>
            <a:ext cx="361950" cy="241300"/>
          </a:xfrm>
          <a:prstGeom prst="rect">
            <a:avLst/>
          </a:prstGeom>
        </p:spPr>
      </p:pic>
      <p:pic>
        <p:nvPicPr>
          <p:cNvPr id="9" name="Image 3" descr="connector">    </p:cNvPr>
          <p:cNvPicPr>
            <a:picLocks noChangeAspect="1"/>
          </p:cNvPicPr>
          <p:nvPr/>
        </p:nvPicPr>
        <p:blipFill>
          <a:blip r:embed="rId4"/>
          <a:srcRect l="0" r="0" t="0" b="0"/>
          <a:stretch/>
        </p:blipFill>
        <p:spPr>
          <a:xfrm>
            <a:off x="4883150" y="2713992"/>
            <a:ext cx="336550" cy="241300"/>
          </a:xfrm>
          <a:prstGeom prst="rect">
            <a:avLst/>
          </a:prstGeom>
        </p:spPr>
      </p:pic>
      <p:pic>
        <p:nvPicPr>
          <p:cNvPr id="10" name="Image 4" descr="connector">    </p:cNvPr>
          <p:cNvPicPr>
            <a:picLocks noChangeAspect="1"/>
          </p:cNvPicPr>
          <p:nvPr/>
        </p:nvPicPr>
        <p:blipFill>
          <a:blip r:embed="rId5"/>
          <a:srcRect l="0" r="0" t="0" b="0"/>
          <a:stretch/>
        </p:blipFill>
        <p:spPr>
          <a:xfrm>
            <a:off x="3816350" y="3025142"/>
            <a:ext cx="1422400" cy="190500"/>
          </a:xfrm>
          <a:prstGeom prst="rect">
            <a:avLst/>
          </a:prstGeom>
        </p:spPr>
      </p:pic>
      <p:sp>
        <p:nvSpPr>
          <p:cNvPr id="11" name="Text 4"/>
          <p:cNvSpPr/>
          <p:nvPr/>
        </p:nvSpPr>
        <p:spPr>
          <a:xfrm>
            <a:off x="946150" y="2961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AAA</a:t>
            </a:r>
            <a:endParaRPr lang="en-US" sz="1300" dirty="0"/>
          </a:p>
        </p:txBody>
      </p:sp>
      <p:sp>
        <p:nvSpPr>
          <p:cNvPr id="12" name="Text 5"/>
          <p:cNvSpPr/>
          <p:nvPr/>
        </p:nvSpPr>
        <p:spPr>
          <a:xfrm>
            <a:off x="2057400" y="2961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AAB</a:t>
            </a:r>
            <a:endParaRPr lang="en-US" sz="1300" dirty="0"/>
          </a:p>
        </p:txBody>
      </p:sp>
      <p:sp>
        <p:nvSpPr>
          <p:cNvPr id="13" name="Text 6"/>
          <p:cNvSpPr/>
          <p:nvPr/>
        </p:nvSpPr>
        <p:spPr>
          <a:xfrm>
            <a:off x="3168650" y="2961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ABB</a:t>
            </a:r>
            <a:endParaRPr lang="en-US" sz="1300" dirty="0"/>
          </a:p>
        </p:txBody>
      </p:sp>
      <p:sp>
        <p:nvSpPr>
          <p:cNvPr id="14" name="Text 7"/>
          <p:cNvSpPr/>
          <p:nvPr/>
        </p:nvSpPr>
        <p:spPr>
          <a:xfrm>
            <a:off x="4216400" y="23901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F7F5EF"/>
          </a:solidFill>
          <a:ln w="12700">
            <a:solidFill>
              <a:srgbClr val="7C8794"/>
            </a:solidFill>
            <a:prstDash val="dash"/>
          </a:ln>
        </p:spPr>
        <p:txBody>
          <a:bodyPr wrap="square" lIns="0" tIns="3810" rIns="0" bIns="0" rtlCol="0" anchor="t">
            <a:normAutofit/>
          </a:bodyPr>
          <a:lstStyle/>
          <a:p>
            <a:pPr algn="ctr" indent="0" marL="0">
              <a:lnSpc>
                <a:spcPts val="2600"/>
              </a:lnSpc>
              <a:buNone/>
            </a:pPr>
            <a:r>
              <a:rPr lang="en-US" sz="1300" b="1" dirty="0">
                <a:solidFill>
                  <a:srgbClr val="5A6573"/>
                </a:solidFill>
                <a:latin typeface="JetBrains Mono" pitchFamily="49" charset="0"/>
                <a:ea typeface="JetBrains Mono" pitchFamily="49" charset="-122"/>
                <a:cs typeface="JetBrains Mono" pitchFamily="49" charset="-120"/>
              </a:rPr>
              <a:t>BBB</a:t>
            </a:r>
            <a:endParaRPr lang="en-US" sz="1300" dirty="0"/>
          </a:p>
        </p:txBody>
      </p:sp>
      <p:sp>
        <p:nvSpPr>
          <p:cNvPr id="15" name="Text 8"/>
          <p:cNvSpPr/>
          <p:nvPr/>
        </p:nvSpPr>
        <p:spPr>
          <a:xfrm>
            <a:off x="5200650" y="2961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BBA</a:t>
            </a:r>
            <a:endParaRPr lang="en-US" sz="1300" dirty="0"/>
          </a:p>
        </p:txBody>
      </p:sp>
      <p:sp>
        <p:nvSpPr>
          <p:cNvPr id="16" name="Text 9"/>
          <p:cNvSpPr/>
          <p:nvPr/>
        </p:nvSpPr>
        <p:spPr>
          <a:xfrm>
            <a:off x="965200" y="3539492"/>
            <a:ext cx="503618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2 + 2 + 2 = 6, vậy 15 − 6 = </a:t>
            </a:r>
            <a:r>
              <a:rPr lang="en-US" sz="1400" b="1" dirty="0">
                <a:solidFill>
                  <a:srgbClr val="1B2430"/>
                </a:solidFill>
                <a:latin typeface="IBM Plex Sans" pitchFamily="34" charset="0"/>
                <a:ea typeface="IBM Plex Sans" pitchFamily="34" charset="-122"/>
                <a:cs typeface="IBM Plex Sans" pitchFamily="34" charset="-120"/>
              </a:rPr>
              <a:t>9</a:t>
            </a:r>
            <a:endParaRPr lang="en-US" sz="1400" dirty="0"/>
          </a:p>
        </p:txBody>
      </p:sp>
      <p:sp>
        <p:nvSpPr>
          <p:cNvPr id="17" name="Shape 10"/>
          <p:cNvSpPr/>
          <p:nvPr/>
        </p:nvSpPr>
        <p:spPr>
          <a:xfrm>
            <a:off x="6178550" y="1666242"/>
            <a:ext cx="5194300" cy="2273300"/>
          </a:xfrm>
          <a:prstGeom prst="roundRect">
            <a:avLst>
              <a:gd name="adj" fmla="val 4190"/>
            </a:avLst>
          </a:prstGeom>
          <a:solidFill>
            <a:srgbClr val="FCFBF7"/>
          </a:solidFill>
          <a:ln w="12700">
            <a:solidFill>
              <a:srgbClr val="DDD9CC"/>
            </a:solidFill>
            <a:prstDash val="solid"/>
          </a:ln>
        </p:spPr>
      </p:sp>
      <p:sp>
        <p:nvSpPr>
          <p:cNvPr id="18" name="Text 11"/>
          <p:cNvSpPr/>
          <p:nvPr/>
        </p:nvSpPr>
        <p:spPr>
          <a:xfrm>
            <a:off x="6324600" y="1748792"/>
            <a:ext cx="503618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Đường đi Hamilton tối ưu: qua cả năm đỉnh</a:t>
            </a:r>
            <a:endParaRPr lang="en-US" sz="1400" dirty="0"/>
          </a:p>
        </p:txBody>
      </p:sp>
      <p:pic>
        <p:nvPicPr>
          <p:cNvPr id="19" name="Image 5" descr="connector">    </p:cNvPr>
          <p:cNvPicPr>
            <a:picLocks noChangeAspect="1"/>
          </p:cNvPicPr>
          <p:nvPr/>
        </p:nvPicPr>
        <p:blipFill>
          <a:blip r:embed="rId6"/>
          <a:srcRect l="0" r="0" t="0" b="0"/>
          <a:stretch/>
        </p:blipFill>
        <p:spPr>
          <a:xfrm>
            <a:off x="6953250" y="3025142"/>
            <a:ext cx="501650" cy="190500"/>
          </a:xfrm>
          <a:prstGeom prst="rect">
            <a:avLst/>
          </a:prstGeom>
        </p:spPr>
      </p:pic>
      <p:pic>
        <p:nvPicPr>
          <p:cNvPr id="20" name="Image 6" descr="connector">    </p:cNvPr>
          <p:cNvPicPr>
            <a:picLocks noChangeAspect="1"/>
          </p:cNvPicPr>
          <p:nvPr/>
        </p:nvPicPr>
        <p:blipFill>
          <a:blip r:embed="rId7"/>
          <a:srcRect l="0" r="0" t="0" b="0"/>
          <a:stretch/>
        </p:blipFill>
        <p:spPr>
          <a:xfrm>
            <a:off x="8064500" y="3025142"/>
            <a:ext cx="501650" cy="190500"/>
          </a:xfrm>
          <a:prstGeom prst="rect">
            <a:avLst/>
          </a:prstGeom>
        </p:spPr>
      </p:pic>
      <p:pic>
        <p:nvPicPr>
          <p:cNvPr id="21" name="Image 7" descr="connector">    </p:cNvPr>
          <p:cNvPicPr>
            <a:picLocks noChangeAspect="1"/>
          </p:cNvPicPr>
          <p:nvPr/>
        </p:nvPicPr>
        <p:blipFill>
          <a:blip r:embed="rId8"/>
          <a:srcRect l="0" r="0" t="0" b="0"/>
          <a:stretch/>
        </p:blipFill>
        <p:spPr>
          <a:xfrm>
            <a:off x="9169400" y="2669542"/>
            <a:ext cx="450850" cy="330200"/>
          </a:xfrm>
          <a:prstGeom prst="rect">
            <a:avLst/>
          </a:prstGeom>
        </p:spPr>
      </p:pic>
      <p:pic>
        <p:nvPicPr>
          <p:cNvPr id="22" name="Image 8" descr="connector">    </p:cNvPr>
          <p:cNvPicPr>
            <a:picLocks noChangeAspect="1"/>
          </p:cNvPicPr>
          <p:nvPr/>
        </p:nvPicPr>
        <p:blipFill>
          <a:blip r:embed="rId9"/>
          <a:srcRect l="0" r="0" t="0" b="0"/>
          <a:stretch/>
        </p:blipFill>
        <p:spPr>
          <a:xfrm>
            <a:off x="10198100" y="2669542"/>
            <a:ext cx="425450" cy="330200"/>
          </a:xfrm>
          <a:prstGeom prst="rect">
            <a:avLst/>
          </a:prstGeom>
        </p:spPr>
      </p:pic>
      <p:pic>
        <p:nvPicPr>
          <p:cNvPr id="23" name="Image 9" descr="connector">    </p:cNvPr>
          <p:cNvPicPr>
            <a:picLocks noChangeAspect="1"/>
          </p:cNvPicPr>
          <p:nvPr/>
        </p:nvPicPr>
        <p:blipFill>
          <a:blip r:embed="rId10"/>
          <a:srcRect l="0" r="0" t="0" b="0"/>
          <a:stretch/>
        </p:blipFill>
        <p:spPr>
          <a:xfrm>
            <a:off x="9220200" y="3069592"/>
            <a:ext cx="1333500" cy="101600"/>
          </a:xfrm>
          <a:prstGeom prst="rect">
            <a:avLst/>
          </a:prstGeom>
        </p:spPr>
      </p:pic>
      <p:sp>
        <p:nvSpPr>
          <p:cNvPr id="24" name="Text 12"/>
          <p:cNvSpPr/>
          <p:nvPr/>
        </p:nvSpPr>
        <p:spPr>
          <a:xfrm>
            <a:off x="6305550" y="2961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AAA</a:t>
            </a:r>
            <a:endParaRPr lang="en-US" sz="1300" dirty="0"/>
          </a:p>
        </p:txBody>
      </p:sp>
      <p:sp>
        <p:nvSpPr>
          <p:cNvPr id="25" name="Text 13"/>
          <p:cNvSpPr/>
          <p:nvPr/>
        </p:nvSpPr>
        <p:spPr>
          <a:xfrm>
            <a:off x="7416800" y="2961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AAB</a:t>
            </a:r>
            <a:endParaRPr lang="en-US" sz="1300" dirty="0"/>
          </a:p>
        </p:txBody>
      </p:sp>
      <p:sp>
        <p:nvSpPr>
          <p:cNvPr id="26" name="Text 14"/>
          <p:cNvSpPr/>
          <p:nvPr/>
        </p:nvSpPr>
        <p:spPr>
          <a:xfrm>
            <a:off x="8528050" y="2961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ABB</a:t>
            </a:r>
            <a:endParaRPr lang="en-US" sz="1300" dirty="0"/>
          </a:p>
        </p:txBody>
      </p:sp>
      <p:sp>
        <p:nvSpPr>
          <p:cNvPr id="27" name="Text 15"/>
          <p:cNvSpPr/>
          <p:nvPr/>
        </p:nvSpPr>
        <p:spPr>
          <a:xfrm>
            <a:off x="9575800" y="23901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BBB</a:t>
            </a:r>
            <a:endParaRPr lang="en-US" sz="1300" dirty="0"/>
          </a:p>
        </p:txBody>
      </p:sp>
      <p:sp>
        <p:nvSpPr>
          <p:cNvPr id="28" name="Text 16"/>
          <p:cNvSpPr/>
          <p:nvPr/>
        </p:nvSpPr>
        <p:spPr>
          <a:xfrm>
            <a:off x="10560050" y="2961642"/>
            <a:ext cx="685800" cy="337820"/>
          </a:xfrm>
          <a:custGeom>
            <a:avLst/>
            <a:gdLst/>
            <a:ahLst/>
            <a:cxnLst/>
            <a:rect l="l" t="t" r="r" b="b"/>
            <a:pathLst>
              <a:path w="685800" h="337820">
                <a:moveTo>
                  <a:pt x="82550" y="0"/>
                </a:moveTo>
                <a:lnTo>
                  <a:pt x="603250" y="0"/>
                </a:lnTo>
                <a:arcTo hR="82550" wR="82550" stAng="16200000" swAng="5400000"/>
                <a:lnTo>
                  <a:pt x="685800" y="255270"/>
                </a:lnTo>
                <a:arcTo hR="82550" wR="82550" stAng="0" swAng="5400000"/>
                <a:lnTo>
                  <a:pt x="82550" y="337820"/>
                </a:lnTo>
                <a:arcTo hR="82550" wR="82550" stAng="5400000" swAng="5400000"/>
                <a:lnTo>
                  <a:pt x="0" y="82550"/>
                </a:lnTo>
                <a:arcTo hR="82550" wR="82550" stAng="10800000" swAng="5400000"/>
                <a:close/>
              </a:path>
            </a:pathLst>
          </a:custGeom>
          <a:solidFill>
            <a:srgbClr val="E4E9F3"/>
          </a:solidFill>
          <a:ln w="12700">
            <a:solidFill>
              <a:srgbClr val="9FB0D3"/>
            </a:solidFill>
            <a:prstDash val="solid"/>
          </a:ln>
        </p:spPr>
        <p:txBody>
          <a:bodyPr wrap="square" lIns="0" tIns="3810" rIns="0" bIns="0" rtlCol="0" anchor="t">
            <a:normAutofit/>
          </a:bodyPr>
          <a:lstStyle/>
          <a:p>
            <a:pPr algn="ctr" indent="0" marL="0">
              <a:lnSpc>
                <a:spcPts val="2600"/>
              </a:lnSpc>
              <a:buNone/>
            </a:pPr>
            <a:r>
              <a:rPr lang="en-US" sz="1300" b="1" dirty="0">
                <a:solidFill>
                  <a:srgbClr val="1B2430"/>
                </a:solidFill>
                <a:latin typeface="JetBrains Mono" pitchFamily="49" charset="0"/>
                <a:ea typeface="JetBrains Mono" pitchFamily="49" charset="-122"/>
                <a:cs typeface="JetBrains Mono" pitchFamily="49" charset="-120"/>
              </a:rPr>
              <a:t>BBA</a:t>
            </a:r>
            <a:endParaRPr lang="en-US" sz="1300" dirty="0"/>
          </a:p>
        </p:txBody>
      </p:sp>
      <p:sp>
        <p:nvSpPr>
          <p:cNvPr id="29" name="Text 17"/>
          <p:cNvSpPr/>
          <p:nvPr/>
        </p:nvSpPr>
        <p:spPr>
          <a:xfrm>
            <a:off x="6324600" y="3539492"/>
            <a:ext cx="503618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2 + 2 + 2 + 2 = 8, vậy 15 − 8 = </a:t>
            </a:r>
            <a:r>
              <a:rPr lang="en-US" sz="1400" b="1" dirty="0">
                <a:solidFill>
                  <a:srgbClr val="1B2430"/>
                </a:solidFill>
                <a:latin typeface="IBM Plex Sans" pitchFamily="34" charset="0"/>
                <a:ea typeface="IBM Plex Sans" pitchFamily="34" charset="-122"/>
                <a:cs typeface="IBM Plex Sans" pitchFamily="34" charset="-120"/>
              </a:rPr>
              <a:t>7</a:t>
            </a:r>
            <a:endParaRPr lang="en-US" sz="1400" dirty="0"/>
          </a:p>
        </p:txBody>
      </p:sp>
      <p:sp>
        <p:nvSpPr>
          <p:cNvPr id="30" name="Text 18"/>
          <p:cNvSpPr/>
          <p:nvPr/>
        </p:nvSpPr>
        <p:spPr>
          <a:xfrm>
            <a:off x="812800" y="4149092"/>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Nét liền là cạnh được dùng, nét đứt là cạnh bị bỏ. Greedy lấy cạnh nặng nhất từng bước nên ABB → BBA chiếm chỗ của hai cạnh ABB → BBB và BBB → BBA.</a:t>
            </a:r>
            <a:endParaRPr lang="en-US" sz="1400" dirty="0"/>
          </a:p>
        </p:txBody>
      </p:sp>
      <p:sp>
        <p:nvSpPr>
          <p:cNvPr id="31" name="Text 19"/>
          <p:cNvSpPr/>
          <p:nvPr/>
        </p:nvSpPr>
        <p:spPr>
          <a:xfrm>
            <a:off x="9226550" y="844550"/>
            <a:ext cx="2146300" cy="322580"/>
          </a:xfrm>
          <a:custGeom>
            <a:avLst/>
            <a:gdLst/>
            <a:ahLst/>
            <a:cxnLst/>
            <a:rect l="l" t="t" r="r" b="b"/>
            <a:pathLst>
              <a:path w="2146300" h="322580">
                <a:moveTo>
                  <a:pt x="161290" y="0"/>
                </a:moveTo>
                <a:lnTo>
                  <a:pt x="1985010" y="0"/>
                </a:lnTo>
                <a:arcTo hR="161290" wR="161290" stAng="16200000" swAng="5400000"/>
                <a:lnTo>
                  <a:pt x="2146300" y="161290"/>
                </a:lnTo>
                <a:arcTo hR="161290" wR="161290" stAng="0" swAng="5400000"/>
                <a:lnTo>
                  <a:pt x="161290" y="322580"/>
                </a:lnTo>
                <a:arcTo hR="161290" wR="161290" stAng="5400000" swAng="5400000"/>
                <a:lnTo>
                  <a:pt x="0" y="161290"/>
                </a:lnTo>
                <a:arcTo hR="161290" wR="161290" stAng="10800000" swAng="5400000"/>
                <a:close/>
              </a:path>
            </a:pathLst>
          </a:custGeom>
          <a:solidFill>
            <a:srgbClr val="E9E6DC"/>
          </a:solidFill>
          <a:ln w="12700">
            <a:solidFill>
              <a:srgbClr val="7C8794"/>
            </a:solidFill>
            <a:prstDash val="solid"/>
          </a:ln>
        </p:spPr>
        <p:txBody>
          <a:bodyPr wrap="square" lIns="0" tIns="54610" rIns="0" bIns="29210" rtlCol="0" anchor="t">
            <a:normAutofit/>
          </a:bodyPr>
          <a:lstStyle/>
          <a:p>
            <a:pPr algn="ctr" indent="0" marL="0">
              <a:lnSpc>
                <a:spcPts val="1680"/>
              </a:lnSpc>
              <a:buNone/>
            </a:pPr>
            <a:r>
              <a:rPr lang="en-US" sz="1200" b="1" spc="100" kern="0" dirty="0">
                <a:solidFill>
                  <a:srgbClr val="1B2430"/>
                </a:solidFill>
                <a:latin typeface="IBM Plex Sans" pitchFamily="34" charset="0"/>
                <a:ea typeface="IBM Plex Sans" pitchFamily="34" charset="-122"/>
                <a:cs typeface="IBM Plex Sans" pitchFamily="34" charset="-120"/>
              </a:rPr>
              <a:t>GREEDY VS HAMILTON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NỐI SANG CÁC PHẦN CÒN LẠI</a:t>
            </a:r>
            <a:endParaRPr lang="en-US" sz="1200" dirty="0"/>
          </a:p>
        </p:txBody>
      </p:sp>
      <p:sp>
        <p:nvSpPr>
          <p:cNvPr id="3" name="Text 1"/>
          <p:cNvSpPr/>
          <p:nvPr>
            <p:ph type="title"/>
          </p:nvPr>
        </p:nvSpPr>
        <p:spPr>
          <a:xfrm>
            <a:off x="812800" y="10769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B2430"/>
                </a:solidFill>
                <a:latin typeface="IBM Plex Sans" pitchFamily="34" charset="0"/>
                <a:ea typeface="IBM Plex Sans" pitchFamily="34" charset="-122"/>
                <a:cs typeface="IBM Plex Sans" pitchFamily="34" charset="-120"/>
              </a:rPr>
              <a:t>Từ trace đến phân tích và ứng dụng</a:t>
            </a:r>
            <a:endParaRPr lang="en-US" sz="2600" dirty="0"/>
          </a:p>
        </p:txBody>
      </p:sp>
      <p:sp>
        <p:nvSpPr>
          <p:cNvPr id="4" name="Shape 2"/>
          <p:cNvSpPr/>
          <p:nvPr/>
        </p:nvSpPr>
        <p:spPr>
          <a:xfrm>
            <a:off x="819150" y="1663700"/>
            <a:ext cx="5194300" cy="1231900"/>
          </a:xfrm>
          <a:prstGeom prst="roundRect">
            <a:avLst>
              <a:gd name="adj" fmla="val 7732"/>
            </a:avLst>
          </a:prstGeom>
          <a:solidFill>
            <a:srgbClr val="FCFBF7"/>
          </a:solidFill>
          <a:ln w="12700">
            <a:solidFill>
              <a:srgbClr val="DDD9CC"/>
            </a:solidFill>
            <a:prstDash val="solid"/>
          </a:ln>
        </p:spPr>
      </p:sp>
      <p:sp>
        <p:nvSpPr>
          <p:cNvPr id="5" name="Text 3"/>
          <p:cNvSpPr/>
          <p:nvPr/>
        </p:nvSpPr>
        <p:spPr>
          <a:xfrm>
            <a:off x="1026160" y="1870714"/>
            <a:ext cx="492368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5FBF"/>
                </a:solidFill>
                <a:latin typeface="IBM Plex Sans" pitchFamily="34" charset="0"/>
                <a:ea typeface="IBM Plex Sans" pitchFamily="34" charset="-122"/>
                <a:cs typeface="IBM Plex Sans" pitchFamily="34" charset="-120"/>
              </a:rPr>
              <a:t>Độ phức tạp thời gian</a:t>
            </a:r>
            <a:endParaRPr lang="en-US" sz="1600" dirty="0"/>
          </a:p>
        </p:txBody>
      </p:sp>
      <p:sp>
        <p:nvSpPr>
          <p:cNvPr id="6" name="Text 4"/>
          <p:cNvSpPr/>
          <p:nvPr/>
        </p:nvSpPr>
        <p:spPr>
          <a:xfrm>
            <a:off x="1026160" y="2190750"/>
            <a:ext cx="492368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Vòng với k chuỗi xét k(k−1)/2 cặp: 10, 6, 3, 1 khi n = 5. Tổng 20 lần tính overlap, cỡ n³/6 khi n lớn.</a:t>
            </a:r>
            <a:endParaRPr lang="en-US" sz="1400" dirty="0"/>
          </a:p>
        </p:txBody>
      </p:sp>
      <p:sp>
        <p:nvSpPr>
          <p:cNvPr id="7" name="Shape 5"/>
          <p:cNvSpPr/>
          <p:nvPr/>
        </p:nvSpPr>
        <p:spPr>
          <a:xfrm>
            <a:off x="6178550" y="1663700"/>
            <a:ext cx="5194300" cy="1231900"/>
          </a:xfrm>
          <a:prstGeom prst="roundRect">
            <a:avLst>
              <a:gd name="adj" fmla="val 7732"/>
            </a:avLst>
          </a:prstGeom>
          <a:solidFill>
            <a:srgbClr val="FCFBF7"/>
          </a:solidFill>
          <a:ln w="12700">
            <a:solidFill>
              <a:srgbClr val="DDD9CC"/>
            </a:solidFill>
            <a:prstDash val="solid"/>
          </a:ln>
        </p:spPr>
      </p:sp>
      <p:sp>
        <p:nvSpPr>
          <p:cNvPr id="8" name="Text 6"/>
          <p:cNvSpPr/>
          <p:nvPr/>
        </p:nvSpPr>
        <p:spPr>
          <a:xfrm>
            <a:off x="6385560" y="1870714"/>
            <a:ext cx="492368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5FBF"/>
                </a:solidFill>
                <a:latin typeface="IBM Plex Sans" pitchFamily="34" charset="0"/>
                <a:ea typeface="IBM Plex Sans" pitchFamily="34" charset="-122"/>
                <a:cs typeface="IBM Plex Sans" pitchFamily="34" charset="-120"/>
              </a:rPr>
              <a:t>Tốt nhất và xấu nhất</a:t>
            </a:r>
            <a:endParaRPr lang="en-US" sz="1600" dirty="0"/>
          </a:p>
        </p:txBody>
      </p:sp>
      <p:sp>
        <p:nvSpPr>
          <p:cNvPr id="9" name="Text 7"/>
          <p:cNvSpPr/>
          <p:nvPr/>
        </p:nvSpPr>
        <p:spPr>
          <a:xfrm>
            <a:off x="6385560" y="2190750"/>
            <a:ext cx="492368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Mỗi overlap cho tốn từ O(L) nếu so sánh lệch ngay, đến O(L²) nếu chuỗi lặp nhiều.</a:t>
            </a:r>
            <a:endParaRPr lang="en-US" sz="1400" dirty="0"/>
          </a:p>
        </p:txBody>
      </p:sp>
      <p:sp>
        <p:nvSpPr>
          <p:cNvPr id="10" name="Shape 8"/>
          <p:cNvSpPr/>
          <p:nvPr/>
        </p:nvSpPr>
        <p:spPr>
          <a:xfrm>
            <a:off x="819150" y="3060700"/>
            <a:ext cx="5194300" cy="1231900"/>
          </a:xfrm>
          <a:prstGeom prst="roundRect">
            <a:avLst>
              <a:gd name="adj" fmla="val 7732"/>
            </a:avLst>
          </a:prstGeom>
          <a:solidFill>
            <a:srgbClr val="FCFBF7"/>
          </a:solidFill>
          <a:ln w="12700">
            <a:solidFill>
              <a:srgbClr val="DDD9CC"/>
            </a:solidFill>
            <a:prstDash val="solid"/>
          </a:ln>
        </p:spPr>
      </p:sp>
      <p:sp>
        <p:nvSpPr>
          <p:cNvPr id="11" name="Text 9"/>
          <p:cNvSpPr/>
          <p:nvPr/>
        </p:nvSpPr>
        <p:spPr>
          <a:xfrm>
            <a:off x="1026160" y="3267714"/>
            <a:ext cx="492368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5FBF"/>
                </a:solidFill>
                <a:latin typeface="IBM Plex Sans" pitchFamily="34" charset="0"/>
                <a:ea typeface="IBM Plex Sans" pitchFamily="34" charset="-122"/>
                <a:cs typeface="IBM Plex Sans" pitchFamily="34" charset="-120"/>
              </a:rPr>
              <a:t>Độ phức tạp không gian</a:t>
            </a:r>
            <a:endParaRPr lang="en-US" sz="1600" dirty="0"/>
          </a:p>
        </p:txBody>
      </p:sp>
      <p:sp>
        <p:nvSpPr>
          <p:cNvPr id="12" name="Text 10"/>
          <p:cNvSpPr/>
          <p:nvPr/>
        </p:nvSpPr>
        <p:spPr>
          <a:xfrm>
            <a:off x="1026160" y="3587750"/>
            <a:ext cx="492368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Greedy chỉ giữ danh sách chuỗi, cỡ n · L ký tự. Bitmask DP cần bảng 2ⁿ · n ô.</a:t>
            </a:r>
            <a:endParaRPr lang="en-US" sz="1400" dirty="0"/>
          </a:p>
        </p:txBody>
      </p:sp>
    </p:spTree>
  </p:cSld>
  <p:clrMapOvr>
    <a:masterClrMapping/>
  </p:clrMapOvr>
</p:sld>
</file>

<file path=ppt/theme/theme1.xml><?xml version="1.0" encoding="utf-8"?>
<a:theme xmlns:a="http://schemas.openxmlformats.org/drawingml/2006/main" name="SCS - Trace tay thuật toán tham lam">
  <a:themeElements>
    <a:clrScheme name="SCS - Trace tay thuật toán tham lam">
      <a:dk1>
        <a:srgbClr val="1B2430"/>
      </a:dk1>
      <a:lt1>
        <a:srgbClr val="F7F5EF"/>
      </a:lt1>
      <a:dk2>
        <a:srgbClr val="525860"/>
      </a:dk2>
      <a:lt2>
        <a:srgbClr val="E1E0DC"/>
      </a:lt2>
      <a:accent1>
        <a:srgbClr val="1F5FBF"/>
      </a:accent1>
      <a:accent2>
        <a:srgbClr val="8F3508"/>
      </a:accent2>
      <a:accent3>
        <a:srgbClr val="FBE3D3"/>
      </a:accent3>
      <a:accent4>
        <a:srgbClr val="B8460F"/>
      </a:accent4>
      <a:accent5>
        <a:srgbClr val="F2A65A"/>
      </a:accent5>
      <a:accent6>
        <a:srgbClr val="174A99"/>
      </a:accent6>
      <a:hlink>
        <a:srgbClr val="0563C1"/>
      </a:hlink>
      <a:folHlink>
        <a:srgbClr val="954F72"/>
      </a:folHlink>
    </a:clrScheme>
    <a:fontScheme name="SCS - Trace tay thuật toán tham lam">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SCS - Trace tay thuật toán tham lam</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2026-10-24T16:40:23Z</dcterms:created>
  <dcterms:modified xsi:type="dcterms:W3CDTF">2026-10-24T16:40:23Z</dcterms:modified>
</cp:coreProperties>
</file>